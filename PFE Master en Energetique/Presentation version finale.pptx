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2" r:id="rId1"/>
  </p:sldMasterIdLst>
  <p:notesMasterIdLst>
    <p:notesMasterId r:id="rId34"/>
  </p:notesMasterIdLst>
  <p:sldIdLst>
    <p:sldId id="256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292" r:id="rId12"/>
    <p:sldId id="280" r:id="rId13"/>
    <p:sldId id="281" r:id="rId14"/>
    <p:sldId id="293" r:id="rId15"/>
    <p:sldId id="259" r:id="rId16"/>
    <p:sldId id="294" r:id="rId17"/>
    <p:sldId id="304" r:id="rId18"/>
    <p:sldId id="263" r:id="rId19"/>
    <p:sldId id="289" r:id="rId20"/>
    <p:sldId id="267" r:id="rId21"/>
    <p:sldId id="264" r:id="rId22"/>
    <p:sldId id="290" r:id="rId23"/>
    <p:sldId id="269" r:id="rId24"/>
    <p:sldId id="270" r:id="rId25"/>
    <p:sldId id="271" r:id="rId26"/>
    <p:sldId id="272" r:id="rId27"/>
    <p:sldId id="284" r:id="rId28"/>
    <p:sldId id="291" r:id="rId29"/>
    <p:sldId id="275" r:id="rId30"/>
    <p:sldId id="279" r:id="rId31"/>
    <p:sldId id="282" r:id="rId32"/>
    <p:sldId id="30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2989" autoAdjust="0"/>
  </p:normalViewPr>
  <p:slideViewPr>
    <p:cSldViewPr snapToGrid="0">
      <p:cViewPr varScale="1">
        <p:scale>
          <a:sx n="67" d="100"/>
          <a:sy n="67" d="100"/>
        </p:scale>
        <p:origin x="894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ADD71C-F529-4F48-BB4F-3704224939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02B5EBD6-E614-40F1-9E8D-07AD4A65A7E9}" type="pres">
      <dgm:prSet presAssocID="{0DADD71C-F529-4F48-BB4F-3704224939AD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84F6258A-7445-4704-AF29-B440E1B986FE}" type="presOf" srcId="{0DADD71C-F529-4F48-BB4F-3704224939AD}" destId="{02B5EBD6-E614-40F1-9E8D-07AD4A65A7E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88A9C1-0657-47D0-A1DA-62E8F4DDF29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C9636EFC-E0A5-4066-8EB1-ECD19F5CE688}">
      <dgm:prSet custT="1"/>
      <dgm:spPr/>
      <dgm:t>
        <a:bodyPr/>
        <a:lstStyle/>
        <a:p>
          <a:pPr algn="ctr"/>
          <a:r>
            <a:rPr lang="fr-FR" sz="2400" b="1" baseline="0" dirty="0"/>
            <a:t>THEME :</a:t>
          </a:r>
          <a:endParaRPr lang="fr-FR" sz="2400" dirty="0"/>
        </a:p>
      </dgm:t>
    </dgm:pt>
    <dgm:pt modelId="{196AEAB9-20B6-4843-AB14-822582839C42}" type="parTrans" cxnId="{A30A7E8D-6AC0-4B9F-AE2C-6B6873408685}">
      <dgm:prSet/>
      <dgm:spPr/>
      <dgm:t>
        <a:bodyPr/>
        <a:lstStyle/>
        <a:p>
          <a:endParaRPr lang="fr-FR"/>
        </a:p>
      </dgm:t>
    </dgm:pt>
    <dgm:pt modelId="{F05E258D-09F9-4354-A881-51001188786F}" type="sibTrans" cxnId="{A30A7E8D-6AC0-4B9F-AE2C-6B6873408685}">
      <dgm:prSet/>
      <dgm:spPr/>
      <dgm:t>
        <a:bodyPr/>
        <a:lstStyle/>
        <a:p>
          <a:endParaRPr lang="fr-FR"/>
        </a:p>
      </dgm:t>
    </dgm:pt>
    <dgm:pt modelId="{DE390DA8-556C-4FC8-ACAE-2B89D58BC927}" type="pres">
      <dgm:prSet presAssocID="{F588A9C1-0657-47D0-A1DA-62E8F4DDF299}" presName="linear" presStyleCnt="0">
        <dgm:presLayoutVars>
          <dgm:animLvl val="lvl"/>
          <dgm:resizeHandles val="exact"/>
        </dgm:presLayoutVars>
      </dgm:prSet>
      <dgm:spPr/>
    </dgm:pt>
    <dgm:pt modelId="{5DB9A759-F8EF-4769-8B0B-66310F658ED1}" type="pres">
      <dgm:prSet presAssocID="{C9636EFC-E0A5-4066-8EB1-ECD19F5CE688}" presName="parentText" presStyleLbl="node1" presStyleIdx="0" presStyleCnt="1" custLinFactNeighborX="0" custLinFactNeighborY="3363">
        <dgm:presLayoutVars>
          <dgm:chMax val="0"/>
          <dgm:bulletEnabled val="1"/>
        </dgm:presLayoutVars>
      </dgm:prSet>
      <dgm:spPr/>
    </dgm:pt>
  </dgm:ptLst>
  <dgm:cxnLst>
    <dgm:cxn modelId="{6C92F004-0E5B-4568-BCEC-232B2724B752}" type="presOf" srcId="{F588A9C1-0657-47D0-A1DA-62E8F4DDF299}" destId="{DE390DA8-556C-4FC8-ACAE-2B89D58BC927}" srcOrd="0" destOrd="0" presId="urn:microsoft.com/office/officeart/2005/8/layout/vList2"/>
    <dgm:cxn modelId="{A30A7E8D-6AC0-4B9F-AE2C-6B6873408685}" srcId="{F588A9C1-0657-47D0-A1DA-62E8F4DDF299}" destId="{C9636EFC-E0A5-4066-8EB1-ECD19F5CE688}" srcOrd="0" destOrd="0" parTransId="{196AEAB9-20B6-4843-AB14-822582839C42}" sibTransId="{F05E258D-09F9-4354-A881-51001188786F}"/>
    <dgm:cxn modelId="{C42B76E2-66BE-4E99-99AB-C0AE6A6C72B9}" type="presOf" srcId="{C9636EFC-E0A5-4066-8EB1-ECD19F5CE688}" destId="{5DB9A759-F8EF-4769-8B0B-66310F658ED1}" srcOrd="0" destOrd="0" presId="urn:microsoft.com/office/officeart/2005/8/layout/vList2"/>
    <dgm:cxn modelId="{8827AA60-3272-4373-A366-11E86C5E264B}" type="presParOf" srcId="{DE390DA8-556C-4FC8-ACAE-2B89D58BC927}" destId="{5DB9A759-F8EF-4769-8B0B-66310F658ED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1B9B36-77DC-4A57-940D-9A2B38776A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8B3AE6E-CC0C-441A-BFD1-9669765CD2BE}" type="pres">
      <dgm:prSet presAssocID="{EC1B9B36-77DC-4A57-940D-9A2B38776A44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D28D57AA-968F-491A-AE1C-EEB1B6F6897C}" type="presOf" srcId="{EC1B9B36-77DC-4A57-940D-9A2B38776A44}" destId="{A8B3AE6E-CC0C-441A-BFD1-9669765CD2B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91C69F-9434-4101-BB78-D589E1211B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DAF490E-BD2E-46DB-8EA4-A248047DA3B9}">
      <dgm:prSet custT="1"/>
      <dgm:spPr/>
      <dgm:t>
        <a:bodyPr/>
        <a:lstStyle/>
        <a:p>
          <a:pPr algn="ctr"/>
          <a:r>
            <a:rPr lang="fr-F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Fig. 2: Température quotidienne de la zone de Manantali</a:t>
          </a:r>
        </a:p>
      </dgm:t>
    </dgm:pt>
    <dgm:pt modelId="{74E115E2-0958-48E7-855F-7AF60BF3E85F}" type="parTrans" cxnId="{3B18A510-6341-4C67-8EE4-4E13A540613E}">
      <dgm:prSet/>
      <dgm:spPr/>
      <dgm:t>
        <a:bodyPr/>
        <a:lstStyle/>
        <a:p>
          <a:endParaRPr lang="fr-FR"/>
        </a:p>
      </dgm:t>
    </dgm:pt>
    <dgm:pt modelId="{4AAC850C-0764-4A1D-8310-A4A6B0488226}" type="sibTrans" cxnId="{3B18A510-6341-4C67-8EE4-4E13A540613E}">
      <dgm:prSet/>
      <dgm:spPr/>
      <dgm:t>
        <a:bodyPr/>
        <a:lstStyle/>
        <a:p>
          <a:endParaRPr lang="fr-FR"/>
        </a:p>
      </dgm:t>
    </dgm:pt>
    <dgm:pt modelId="{70CB5CCC-5DB6-4F19-946D-98000D409066}" type="pres">
      <dgm:prSet presAssocID="{2B91C69F-9434-4101-BB78-D589E1211BC0}" presName="linear" presStyleCnt="0">
        <dgm:presLayoutVars>
          <dgm:animLvl val="lvl"/>
          <dgm:resizeHandles val="exact"/>
        </dgm:presLayoutVars>
      </dgm:prSet>
      <dgm:spPr/>
    </dgm:pt>
    <dgm:pt modelId="{D1471562-0D4D-451D-A1CA-8D6EBBA037AC}" type="pres">
      <dgm:prSet presAssocID="{9DAF490E-BD2E-46DB-8EA4-A248047DA3B9}" presName="parentText" presStyleLbl="node1" presStyleIdx="0" presStyleCnt="1" custLinFactNeighborX="-300" custLinFactNeighborY="70293">
        <dgm:presLayoutVars>
          <dgm:chMax val="0"/>
          <dgm:bulletEnabled val="1"/>
        </dgm:presLayoutVars>
      </dgm:prSet>
      <dgm:spPr/>
    </dgm:pt>
  </dgm:ptLst>
  <dgm:cxnLst>
    <dgm:cxn modelId="{3B18A510-6341-4C67-8EE4-4E13A540613E}" srcId="{2B91C69F-9434-4101-BB78-D589E1211BC0}" destId="{9DAF490E-BD2E-46DB-8EA4-A248047DA3B9}" srcOrd="0" destOrd="0" parTransId="{74E115E2-0958-48E7-855F-7AF60BF3E85F}" sibTransId="{4AAC850C-0764-4A1D-8310-A4A6B0488226}"/>
    <dgm:cxn modelId="{CA65ECCD-4677-4C9E-BE30-3B8D022C6820}" type="presOf" srcId="{9DAF490E-BD2E-46DB-8EA4-A248047DA3B9}" destId="{D1471562-0D4D-451D-A1CA-8D6EBBA037AC}" srcOrd="0" destOrd="0" presId="urn:microsoft.com/office/officeart/2005/8/layout/vList2"/>
    <dgm:cxn modelId="{CC0716E2-C641-488B-8319-9756FD79E743}" type="presOf" srcId="{2B91C69F-9434-4101-BB78-D589E1211BC0}" destId="{70CB5CCC-5DB6-4F19-946D-98000D409066}" srcOrd="0" destOrd="0" presId="urn:microsoft.com/office/officeart/2005/8/layout/vList2"/>
    <dgm:cxn modelId="{9ACC191C-0F63-4D91-9084-8644B270212E}" type="presParOf" srcId="{70CB5CCC-5DB6-4F19-946D-98000D409066}" destId="{D1471562-0D4D-451D-A1CA-8D6EBBA037A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ABADD8-00F4-437C-93C0-C3701020D0E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C9371C5-7619-4EE8-8A9D-147D21408665}">
      <dgm:prSet custT="1"/>
      <dgm:spPr/>
      <dgm:t>
        <a:bodyPr/>
        <a:lstStyle/>
        <a:p>
          <a:pPr algn="ctr"/>
          <a:r>
            <a:rPr lang="fr-FR" sz="2800" i="1" dirty="0">
              <a:latin typeface="Times New Roman" panose="02020603050405020304" pitchFamily="18" charset="0"/>
              <a:cs typeface="Times New Roman" panose="02020603050405020304" pitchFamily="18" charset="0"/>
            </a:rPr>
            <a:t>Fig. 5 : Profil de charge quotidien de la boulangerie Yoro (logiciel HOMER)</a:t>
          </a:r>
        </a:p>
        <a:p>
          <a:pPr algn="ctr"/>
          <a:r>
            <a:rPr lang="fr-FR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Source : données de consommation des équipements électriques de la boulangerie</a:t>
          </a:r>
        </a:p>
      </dgm:t>
    </dgm:pt>
    <dgm:pt modelId="{D980F735-BA4B-45AA-817E-90D75299BD24}" type="parTrans" cxnId="{5BE017C2-8CFC-46F0-8543-88B95FFC8641}">
      <dgm:prSet/>
      <dgm:spPr/>
      <dgm:t>
        <a:bodyPr/>
        <a:lstStyle/>
        <a:p>
          <a:endParaRPr lang="fr-FR"/>
        </a:p>
      </dgm:t>
    </dgm:pt>
    <dgm:pt modelId="{E828D353-04F8-48F8-BCC2-BBE4AAC13E61}" type="sibTrans" cxnId="{5BE017C2-8CFC-46F0-8543-88B95FFC8641}">
      <dgm:prSet/>
      <dgm:spPr/>
      <dgm:t>
        <a:bodyPr/>
        <a:lstStyle/>
        <a:p>
          <a:endParaRPr lang="fr-FR"/>
        </a:p>
      </dgm:t>
    </dgm:pt>
    <dgm:pt modelId="{8D4B1EA2-3F06-4F80-9291-02C3F467C16A}" type="pres">
      <dgm:prSet presAssocID="{C4ABADD8-00F4-437C-93C0-C3701020D0E2}" presName="linear" presStyleCnt="0">
        <dgm:presLayoutVars>
          <dgm:animLvl val="lvl"/>
          <dgm:resizeHandles val="exact"/>
        </dgm:presLayoutVars>
      </dgm:prSet>
      <dgm:spPr/>
    </dgm:pt>
    <dgm:pt modelId="{A34BEEA2-DF48-4A01-8C32-E1F10CCD8E8C}" type="pres">
      <dgm:prSet presAssocID="{2C9371C5-7619-4EE8-8A9D-147D21408665}" presName="parentText" presStyleLbl="node1" presStyleIdx="0" presStyleCnt="1" custScaleY="256150" custLinFactNeighborY="-56789">
        <dgm:presLayoutVars>
          <dgm:chMax val="0"/>
          <dgm:bulletEnabled val="1"/>
        </dgm:presLayoutVars>
      </dgm:prSet>
      <dgm:spPr/>
    </dgm:pt>
  </dgm:ptLst>
  <dgm:cxnLst>
    <dgm:cxn modelId="{82C1C018-CDA1-4378-B9ED-80CBA26567B2}" type="presOf" srcId="{2C9371C5-7619-4EE8-8A9D-147D21408665}" destId="{A34BEEA2-DF48-4A01-8C32-E1F10CCD8E8C}" srcOrd="0" destOrd="0" presId="urn:microsoft.com/office/officeart/2005/8/layout/vList2"/>
    <dgm:cxn modelId="{20E831B7-387F-4BAB-BF55-C52C734EE3D7}" type="presOf" srcId="{C4ABADD8-00F4-437C-93C0-C3701020D0E2}" destId="{8D4B1EA2-3F06-4F80-9291-02C3F467C16A}" srcOrd="0" destOrd="0" presId="urn:microsoft.com/office/officeart/2005/8/layout/vList2"/>
    <dgm:cxn modelId="{5BE017C2-8CFC-46F0-8543-88B95FFC8641}" srcId="{C4ABADD8-00F4-437C-93C0-C3701020D0E2}" destId="{2C9371C5-7619-4EE8-8A9D-147D21408665}" srcOrd="0" destOrd="0" parTransId="{D980F735-BA4B-45AA-817E-90D75299BD24}" sibTransId="{E828D353-04F8-48F8-BCC2-BBE4AAC13E61}"/>
    <dgm:cxn modelId="{B2091E97-AA68-40F7-A1AF-E08E25F64E5C}" type="presParOf" srcId="{8D4B1EA2-3F06-4F80-9291-02C3F467C16A}" destId="{A34BEEA2-DF48-4A01-8C32-E1F10CCD8E8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474DE3-716A-4900-99B2-F6D2C007D95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8C897F9-5279-45C4-985C-DBE70858A534}">
      <dgm:prSet custT="1"/>
      <dgm:spPr/>
      <dgm:t>
        <a:bodyPr/>
        <a:lstStyle/>
        <a:p>
          <a:r>
            <a:rPr lang="fr-FR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Tableau 1: Tableau des besoins énergétiques</a:t>
          </a:r>
        </a:p>
      </dgm:t>
    </dgm:pt>
    <dgm:pt modelId="{674AC906-F0B0-4607-9F32-454AD4079646}" type="parTrans" cxnId="{50F24C3A-9CAD-4AFA-AF25-E5E7E1667EDE}">
      <dgm:prSet/>
      <dgm:spPr/>
      <dgm:t>
        <a:bodyPr/>
        <a:lstStyle/>
        <a:p>
          <a:endParaRPr lang="fr-FR"/>
        </a:p>
      </dgm:t>
    </dgm:pt>
    <dgm:pt modelId="{7B4BC430-4DCB-4F07-8DD6-F8A2C66E2161}" type="sibTrans" cxnId="{50F24C3A-9CAD-4AFA-AF25-E5E7E1667EDE}">
      <dgm:prSet/>
      <dgm:spPr/>
      <dgm:t>
        <a:bodyPr/>
        <a:lstStyle/>
        <a:p>
          <a:endParaRPr lang="fr-FR"/>
        </a:p>
      </dgm:t>
    </dgm:pt>
    <dgm:pt modelId="{13A46C46-4409-4132-AE83-364A541AB7AB}" type="pres">
      <dgm:prSet presAssocID="{75474DE3-716A-4900-99B2-F6D2C007D95D}" presName="linear" presStyleCnt="0">
        <dgm:presLayoutVars>
          <dgm:animLvl val="lvl"/>
          <dgm:resizeHandles val="exact"/>
        </dgm:presLayoutVars>
      </dgm:prSet>
      <dgm:spPr/>
    </dgm:pt>
    <dgm:pt modelId="{9BD940F2-05E8-4C57-BB99-F8E20EE126DB}" type="pres">
      <dgm:prSet presAssocID="{48C897F9-5279-45C4-985C-DBE70858A534}" presName="parentText" presStyleLbl="node1" presStyleIdx="0" presStyleCnt="1" custLinFactNeighborX="-8133" custLinFactNeighborY="-5734">
        <dgm:presLayoutVars>
          <dgm:chMax val="0"/>
          <dgm:bulletEnabled val="1"/>
        </dgm:presLayoutVars>
      </dgm:prSet>
      <dgm:spPr/>
    </dgm:pt>
  </dgm:ptLst>
  <dgm:cxnLst>
    <dgm:cxn modelId="{50F24C3A-9CAD-4AFA-AF25-E5E7E1667EDE}" srcId="{75474DE3-716A-4900-99B2-F6D2C007D95D}" destId="{48C897F9-5279-45C4-985C-DBE70858A534}" srcOrd="0" destOrd="0" parTransId="{674AC906-F0B0-4607-9F32-454AD4079646}" sibTransId="{7B4BC430-4DCB-4F07-8DD6-F8A2C66E2161}"/>
    <dgm:cxn modelId="{BC55A44A-E54F-444F-A34E-DE731FA484D4}" type="presOf" srcId="{48C897F9-5279-45C4-985C-DBE70858A534}" destId="{9BD940F2-05E8-4C57-BB99-F8E20EE126DB}" srcOrd="0" destOrd="0" presId="urn:microsoft.com/office/officeart/2005/8/layout/vList2"/>
    <dgm:cxn modelId="{1AEAC1A4-6D2F-4BD8-9A0F-A3AD8D3A3EED}" type="presOf" srcId="{75474DE3-716A-4900-99B2-F6D2C007D95D}" destId="{13A46C46-4409-4132-AE83-364A541AB7AB}" srcOrd="0" destOrd="0" presId="urn:microsoft.com/office/officeart/2005/8/layout/vList2"/>
    <dgm:cxn modelId="{EE155F33-CB13-4610-A018-3F620D9CD9B9}" type="presParOf" srcId="{13A46C46-4409-4132-AE83-364A541AB7AB}" destId="{9BD940F2-05E8-4C57-BB99-F8E20EE126D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F789DDC-06C2-4DC4-9267-7D0570067F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697DB10-3BA7-4D6C-8A0E-90E40EA8C887}">
      <dgm:prSet custT="1"/>
      <dgm:spPr/>
      <dgm:t>
        <a:bodyPr/>
        <a:lstStyle/>
        <a:p>
          <a:pPr algn="ctr"/>
          <a:r>
            <a:rPr lang="fr-F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Tableau 2: Tableau récapitulatif du dimensionnement</a:t>
          </a:r>
          <a:endParaRPr lang="fr-F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B70AEA-5E21-4A30-B658-A8167E041AD9}" type="parTrans" cxnId="{99A421E4-22D4-4A0E-B964-A2A02B610480}">
      <dgm:prSet/>
      <dgm:spPr/>
      <dgm:t>
        <a:bodyPr/>
        <a:lstStyle/>
        <a:p>
          <a:endParaRPr lang="fr-FR"/>
        </a:p>
      </dgm:t>
    </dgm:pt>
    <dgm:pt modelId="{55D2607C-868A-4EC1-9F8A-1BC04EA8ECF5}" type="sibTrans" cxnId="{99A421E4-22D4-4A0E-B964-A2A02B610480}">
      <dgm:prSet/>
      <dgm:spPr/>
      <dgm:t>
        <a:bodyPr/>
        <a:lstStyle/>
        <a:p>
          <a:endParaRPr lang="fr-FR"/>
        </a:p>
      </dgm:t>
    </dgm:pt>
    <dgm:pt modelId="{B6A1249E-8438-4433-BB43-DD963603213E}" type="pres">
      <dgm:prSet presAssocID="{6F789DDC-06C2-4DC4-9267-7D0570067F80}" presName="linear" presStyleCnt="0">
        <dgm:presLayoutVars>
          <dgm:animLvl val="lvl"/>
          <dgm:resizeHandles val="exact"/>
        </dgm:presLayoutVars>
      </dgm:prSet>
      <dgm:spPr/>
    </dgm:pt>
    <dgm:pt modelId="{F5B6DE1A-A631-41DA-8648-40C7CB3050C6}" type="pres">
      <dgm:prSet presAssocID="{9697DB10-3BA7-4D6C-8A0E-90E40EA8C88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68FD622-F2FA-4E6D-80CE-518AFE44EE2B}" type="presOf" srcId="{6F789DDC-06C2-4DC4-9267-7D0570067F80}" destId="{B6A1249E-8438-4433-BB43-DD963603213E}" srcOrd="0" destOrd="0" presId="urn:microsoft.com/office/officeart/2005/8/layout/vList2"/>
    <dgm:cxn modelId="{B28D28A2-8021-42EB-8B72-52D3EBB2A394}" type="presOf" srcId="{9697DB10-3BA7-4D6C-8A0E-90E40EA8C887}" destId="{F5B6DE1A-A631-41DA-8648-40C7CB3050C6}" srcOrd="0" destOrd="0" presId="urn:microsoft.com/office/officeart/2005/8/layout/vList2"/>
    <dgm:cxn modelId="{99A421E4-22D4-4A0E-B964-A2A02B610480}" srcId="{6F789DDC-06C2-4DC4-9267-7D0570067F80}" destId="{9697DB10-3BA7-4D6C-8A0E-90E40EA8C887}" srcOrd="0" destOrd="0" parTransId="{55B70AEA-5E21-4A30-B658-A8167E041AD9}" sibTransId="{55D2607C-868A-4EC1-9F8A-1BC04EA8ECF5}"/>
    <dgm:cxn modelId="{B50E3C0B-C197-4950-97EB-12B5C36CD40E}" type="presParOf" srcId="{B6A1249E-8438-4433-BB43-DD963603213E}" destId="{F5B6DE1A-A631-41DA-8648-40C7CB3050C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717056B-8D42-4D6F-8E7C-BC5E8BB84D2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28A990E-E9C3-4A87-8DAE-C0E9B191540B}">
      <dgm:prSet custT="1"/>
      <dgm:spPr/>
      <dgm:t>
        <a:bodyPr/>
        <a:lstStyle/>
        <a:p>
          <a:pPr algn="ctr"/>
          <a:r>
            <a:rPr lang="fr-F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Tableau 3: Tableau récapitulatif du calcul de la section des câbles</a:t>
          </a:r>
          <a:endParaRPr lang="fr-F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29CC8B-ABDE-4B77-9DB8-A8FDC33F6937}" type="parTrans" cxnId="{1D2E9A1C-1717-4693-808E-501AB9294845}">
      <dgm:prSet/>
      <dgm:spPr/>
      <dgm:t>
        <a:bodyPr/>
        <a:lstStyle/>
        <a:p>
          <a:endParaRPr lang="fr-FR"/>
        </a:p>
      </dgm:t>
    </dgm:pt>
    <dgm:pt modelId="{62408422-18C1-406D-970B-32A9063E2682}" type="sibTrans" cxnId="{1D2E9A1C-1717-4693-808E-501AB9294845}">
      <dgm:prSet/>
      <dgm:spPr/>
      <dgm:t>
        <a:bodyPr/>
        <a:lstStyle/>
        <a:p>
          <a:endParaRPr lang="fr-FR"/>
        </a:p>
      </dgm:t>
    </dgm:pt>
    <dgm:pt modelId="{9037FE95-6922-424A-8BED-10C6301FB6D9}" type="pres">
      <dgm:prSet presAssocID="{2717056B-8D42-4D6F-8E7C-BC5E8BB84D23}" presName="linear" presStyleCnt="0">
        <dgm:presLayoutVars>
          <dgm:animLvl val="lvl"/>
          <dgm:resizeHandles val="exact"/>
        </dgm:presLayoutVars>
      </dgm:prSet>
      <dgm:spPr/>
    </dgm:pt>
    <dgm:pt modelId="{5E662A42-47D0-473A-8D46-45F6471B7EDC}" type="pres">
      <dgm:prSet presAssocID="{E28A990E-E9C3-4A87-8DAE-C0E9B191540B}" presName="parentText" presStyleLbl="node1" presStyleIdx="0" presStyleCnt="1" custLinFactNeighborX="-1023" custLinFactNeighborY="-23607">
        <dgm:presLayoutVars>
          <dgm:chMax val="0"/>
          <dgm:bulletEnabled val="1"/>
        </dgm:presLayoutVars>
      </dgm:prSet>
      <dgm:spPr/>
    </dgm:pt>
  </dgm:ptLst>
  <dgm:cxnLst>
    <dgm:cxn modelId="{1D2E9A1C-1717-4693-808E-501AB9294845}" srcId="{2717056B-8D42-4D6F-8E7C-BC5E8BB84D23}" destId="{E28A990E-E9C3-4A87-8DAE-C0E9B191540B}" srcOrd="0" destOrd="0" parTransId="{4929CC8B-ABDE-4B77-9DB8-A8FDC33F6937}" sibTransId="{62408422-18C1-406D-970B-32A9063E2682}"/>
    <dgm:cxn modelId="{DF3B267E-2869-49AD-A514-16F209EA423F}" type="presOf" srcId="{E28A990E-E9C3-4A87-8DAE-C0E9B191540B}" destId="{5E662A42-47D0-473A-8D46-45F6471B7EDC}" srcOrd="0" destOrd="0" presId="urn:microsoft.com/office/officeart/2005/8/layout/vList2"/>
    <dgm:cxn modelId="{7B63E9A0-F0B2-4AC9-AC60-DDD51E370FC9}" type="presOf" srcId="{2717056B-8D42-4D6F-8E7C-BC5E8BB84D23}" destId="{9037FE95-6922-424A-8BED-10C6301FB6D9}" srcOrd="0" destOrd="0" presId="urn:microsoft.com/office/officeart/2005/8/layout/vList2"/>
    <dgm:cxn modelId="{6F5BC979-E78F-450A-AA7B-AF1592F9D7C2}" type="presParOf" srcId="{9037FE95-6922-424A-8BED-10C6301FB6D9}" destId="{5E662A42-47D0-473A-8D46-45F6471B7ED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9A759-F8EF-4769-8B0B-66310F658ED1}">
      <dsp:nvSpPr>
        <dsp:cNvPr id="0" name=""/>
        <dsp:cNvSpPr/>
      </dsp:nvSpPr>
      <dsp:spPr>
        <a:xfrm>
          <a:off x="0" y="379"/>
          <a:ext cx="2419643" cy="5638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baseline="0" dirty="0"/>
            <a:t>THEME :</a:t>
          </a:r>
          <a:endParaRPr lang="fr-FR" sz="2400" kern="1200" dirty="0"/>
        </a:p>
      </dsp:txBody>
      <dsp:txXfrm>
        <a:off x="27525" y="27904"/>
        <a:ext cx="2364593" cy="508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471562-0D4D-451D-A1CA-8D6EBBA037AC}">
      <dsp:nvSpPr>
        <dsp:cNvPr id="0" name=""/>
        <dsp:cNvSpPr/>
      </dsp:nvSpPr>
      <dsp:spPr>
        <a:xfrm>
          <a:off x="0" y="18266"/>
          <a:ext cx="7620000" cy="73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Fig. 2: Température quotidienne de la zone de Manantali</a:t>
          </a:r>
        </a:p>
      </dsp:txBody>
      <dsp:txXfrm>
        <a:off x="35640" y="53906"/>
        <a:ext cx="7548720" cy="6588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BEEA2-DF48-4A01-8C32-E1F10CCD8E8C}">
      <dsp:nvSpPr>
        <dsp:cNvPr id="0" name=""/>
        <dsp:cNvSpPr/>
      </dsp:nvSpPr>
      <dsp:spPr>
        <a:xfrm>
          <a:off x="0" y="0"/>
          <a:ext cx="12192000" cy="9918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Fig. 5 : Profil de charge quotidien de la boulangerie Yoro (logiciel HOMER)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Source : données de consommation des équipements électriques de la boulangerie</a:t>
          </a:r>
        </a:p>
      </dsp:txBody>
      <dsp:txXfrm>
        <a:off x="48417" y="48417"/>
        <a:ext cx="12095166" cy="8949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940F2-05E8-4C57-BB99-F8E20EE126DB}">
      <dsp:nvSpPr>
        <dsp:cNvPr id="0" name=""/>
        <dsp:cNvSpPr/>
      </dsp:nvSpPr>
      <dsp:spPr>
        <a:xfrm>
          <a:off x="0" y="0"/>
          <a:ext cx="5229225" cy="4506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Tableau 1: Tableau des besoins énergétiques</a:t>
          </a:r>
        </a:p>
      </dsp:txBody>
      <dsp:txXfrm>
        <a:off x="21998" y="21998"/>
        <a:ext cx="5185229" cy="4066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6DE1A-A631-41DA-8648-40C7CB3050C6}">
      <dsp:nvSpPr>
        <dsp:cNvPr id="0" name=""/>
        <dsp:cNvSpPr/>
      </dsp:nvSpPr>
      <dsp:spPr>
        <a:xfrm>
          <a:off x="0" y="65"/>
          <a:ext cx="12192000" cy="529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Tableau 2: Tableau récapitulatif du dimensionnement</a:t>
          </a:r>
          <a:endParaRPr lang="fr-F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62" y="25927"/>
        <a:ext cx="12140276" cy="4780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662A42-47D0-473A-8D46-45F6471B7EDC}">
      <dsp:nvSpPr>
        <dsp:cNvPr id="0" name=""/>
        <dsp:cNvSpPr/>
      </dsp:nvSpPr>
      <dsp:spPr>
        <a:xfrm>
          <a:off x="0" y="0"/>
          <a:ext cx="12192000" cy="617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Tableau 3: Tableau récapitulatif du calcul de la section des câbles</a:t>
          </a:r>
          <a:endParaRPr lang="fr-F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157" y="30157"/>
        <a:ext cx="12131686" cy="5574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9B803-6EB6-4747-829B-D965AE2CDDC0}" type="datetimeFigureOut">
              <a:rPr lang="fr-FR" smtClean="0"/>
              <a:t>06/08/2026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A5883-CFB5-40FB-BCCB-4C174F30995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3635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A5883-CFB5-40FB-BCCB-4C174F30995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100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 pays tels que le Burkina Faso, la Côte d’Ivoire, le Niger, le Togo, le Tchad, le Gabon et la Centre- Afrique pour ne citer que ceux-ci.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A5883-CFB5-40FB-BCCB-4C174F30995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977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les zones rurales, l’alimentation des installations  électriques repose sur l’EDM-SA ou sur des groupes électrogènes fonctionnant au carburant fossile.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Cela peut engendrer des coûts d’exploitations élevés, une dépendance énergétique et un impact environnemental négatif.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A5883-CFB5-40FB-BCCB-4C174F30995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5673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Problèmes rencontrés :</a:t>
            </a:r>
          </a:p>
          <a:p>
            <a:pPr marL="0" indent="0">
              <a:buNone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Mali, le taux d’électrification s’élève à 55% à l’échelle nationale, </a:t>
            </a:r>
            <a:r>
              <a:rPr lang="fr-F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dont 76% de ce taux est dans le milieu urbain et 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24% dans le milieu rurale (2023). Selon les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donnees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officielles de la banque mondiale-Banque africaine de </a:t>
            </a:r>
            <a:r>
              <a:rPr lang="fr-F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developpement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Coupures fréquentes d’électricité due à un déficit de production face à une  demande croissante.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Dépendance au réseau électrique, selon le rapport du PNUD 2023, la production malienne d’électricité est dominée à près 69% par le thermique, suivi de l’hydroélectricité 26,8% et du solaire 4,2%..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principale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 alimenter une boulangerie de manière autonome et fiable avec l’énergie photovoltaïques ?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A5883-CFB5-40FB-BCCB-4C174F30995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2670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bénéficie d’un emplacement géographique stratégique, délimité comme suit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Nord : la gendarmerie de Manantali,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sud : l’école fondamentale Manantali ‘’A’’.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A5883-CFB5-40FB-BCCB-4C174F30995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99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L’analyse de la courbe de la production normalisée montre que la production photovoltaïque augmente progressivement pour atteindre son maximum au mois de Mars. A partir de cette période, elle diminue graduellement et enregistre une baisse plus marquée dans le mois de juillet et d’aout. 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A5883-CFB5-40FB-BCCB-4C174F309958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9638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Indice de performance est le rapport entre l'énergie réellement produite par le système et l'énergie théorique qu’il devrait produire dans des conditions idéales.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A5883-CFB5-40FB-BCCB-4C174F309958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405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 permettra :</a:t>
            </a:r>
          </a:p>
          <a:p>
            <a:pPr algn="just"/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La </a:t>
            </a:r>
            <a:r>
              <a:rPr lang="fr-FR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création d’emplois directs 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(techniciens, installateurs, agents de maintenance) et </a:t>
            </a:r>
            <a:r>
              <a:rPr lang="fr-FR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indirects 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(fournisseurs de bois et de farine, transporteurs, revendeurs de pain).</a:t>
            </a:r>
          </a:p>
          <a:p>
            <a:pPr algn="just"/>
            <a:r>
              <a:rPr lang="fr-FR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production continue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favorisant la disponibilité du pain et la stabilité des prix. </a:t>
            </a:r>
          </a:p>
          <a:p>
            <a:pPr algn="just"/>
            <a:r>
              <a:rPr lang="fr-FR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fr-FR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dynamisation du commerce local.</a:t>
            </a:r>
          </a:p>
          <a:p>
            <a:pPr algn="just"/>
            <a:r>
              <a:rPr lang="fr-FR" sz="1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Impact environnemental</a:t>
            </a:r>
            <a:endParaRPr lang="fr-FR" sz="1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 le plan environnemental, l’usage de l’énergie solaire réduit considérablement les </a:t>
            </a:r>
            <a:r>
              <a:rPr lang="fr-FR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émissions de CO₂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 substituant les sources fossiles polluantes. Le recours au photovoltaïque favorise ainsi la préservation des ressources naturelles et s’inscrit dans une démarche de </a:t>
            </a:r>
            <a:r>
              <a:rPr lang="fr-FR" sz="1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développement durable</a:t>
            </a: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A5883-CFB5-40FB-BCCB-4C174F309958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633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photovoltaïque proposé constitue une solution durable, fiable et rentable pour assurer une l’autonomie énergétique des boulangeries modernes en milieu rural.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long terme, cette approche pourrait être étendue à d’autres secteurs comme la conservation alimentaire ou les petites industries agroalimentaires, contribuant ainsi à un développement énergétique durable et inclusif en milieu rural.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A5883-CFB5-40FB-BCCB-4C174F309958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2174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A7985-E3DC-4D86-9CBB-DFBE89E6A795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592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B460-B87D-4763-AA51-E2BDC3F44157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17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1209-19CF-4BBC-8917-A6B031DAA90C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071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E1BDE-6061-4B15-B0DD-653DE0035870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079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9A01-C0A3-4BA5-B7C2-2187EF9BA9FD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94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72259-7DA7-4517-8BC1-8282849249EE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2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9055-2FAA-428E-911C-DE999927FF53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25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DFC20B2-3B82-47B9-B1C8-7546834002C3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0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3160C-CC1C-4E93-991B-26E4AC42234D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80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A891-40F8-4442-8F22-120FA9FB03B5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304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DAECB-EF9B-4D4B-BAB1-FE34F455E18E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89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FFAB8CF-135F-41A2-BC35-A6DE69ECE7B1}" type="datetime1">
              <a:rPr lang="en-US" smtClean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597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tel:196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3.xml"/><Relationship Id="rId7" Type="http://schemas.openxmlformats.org/officeDocument/2006/relationships/image" Target="../media/image7.tmp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jpe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5.xml"/><Relationship Id="rId7" Type="http://schemas.openxmlformats.org/officeDocument/2006/relationships/image" Target="../media/image21.tmp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Layout" Target="../diagrams/layout6.xml"/><Relationship Id="rId7" Type="http://schemas.openxmlformats.org/officeDocument/2006/relationships/image" Target="../media/image2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2.jpe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511A72-8E40-640D-22FE-4797E2D48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132" y="3188989"/>
            <a:ext cx="12112283" cy="1140276"/>
          </a:xfrm>
        </p:spPr>
        <p:txBody>
          <a:bodyPr>
            <a:normAutofit/>
          </a:bodyPr>
          <a:lstStyle/>
          <a:p>
            <a:pPr algn="ctr"/>
            <a:r>
              <a:rPr lang="fr-FR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Conception optimisée d’un système photovoltaïque autonome destin</a:t>
            </a:r>
            <a:r>
              <a:rPr lang="fr-FR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à </a:t>
            </a:r>
            <a:r>
              <a:rPr lang="fr-FR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l’électrification</a:t>
            </a:r>
            <a:r>
              <a:rPr lang="fr-FR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la boulangerie YORO </a:t>
            </a:r>
            <a:r>
              <a:rPr lang="fr-FR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Manantali</a:t>
            </a:r>
            <a:r>
              <a:rPr lang="fr-FR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sz="8800" dirty="0"/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E4F8B289-A8ED-9467-C5AB-3E562996FF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8860566"/>
              </p:ext>
            </p:extLst>
          </p:nvPr>
        </p:nvGraphicFramePr>
        <p:xfrm>
          <a:off x="1828799" y="4389931"/>
          <a:ext cx="7751298" cy="777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6" name="Groupe 5">
            <a:extLst>
              <a:ext uri="{FF2B5EF4-FFF2-40B4-BE49-F238E27FC236}">
                <a16:creationId xmlns:a16="http://schemas.microsoft.com/office/drawing/2014/main" id="{C6EFA94F-EBB1-7E6C-F1E5-1CF427C831D0}"/>
              </a:ext>
            </a:extLst>
          </p:cNvPr>
          <p:cNvGrpSpPr/>
          <p:nvPr/>
        </p:nvGrpSpPr>
        <p:grpSpPr>
          <a:xfrm>
            <a:off x="-2" y="-43785"/>
            <a:ext cx="12192000" cy="1125415"/>
            <a:chOff x="0" y="5020"/>
            <a:chExt cx="10058399" cy="767520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F605B59F-FDB1-FBC1-7FB8-E58B9BAECEC1}"/>
                </a:ext>
              </a:extLst>
            </p:cNvPr>
            <p:cNvSpPr/>
            <p:nvPr/>
          </p:nvSpPr>
          <p:spPr>
            <a:xfrm>
              <a:off x="0" y="5020"/>
              <a:ext cx="10058399" cy="7675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 : coins arrondis 4">
              <a:extLst>
                <a:ext uri="{FF2B5EF4-FFF2-40B4-BE49-F238E27FC236}">
                  <a16:creationId xmlns:a16="http://schemas.microsoft.com/office/drawing/2014/main" id="{2E5E69B7-332C-82E6-B33E-711DC58AEC76}"/>
                </a:ext>
              </a:extLst>
            </p:cNvPr>
            <p:cNvSpPr txBox="1"/>
            <p:nvPr/>
          </p:nvSpPr>
          <p:spPr>
            <a:xfrm>
              <a:off x="37467" y="42487"/>
              <a:ext cx="9983465" cy="69258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marL="0" lvl="0" indent="0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3400" b="1" i="1" kern="1200" baseline="0" dirty="0"/>
                <a:t>Ecole Normale d’Enseignement Technique et Professionnel</a:t>
              </a:r>
              <a:endParaRPr lang="fr-FR" sz="3400" i="1" kern="1200" dirty="0"/>
            </a:p>
          </p:txBody>
        </p:sp>
      </p:grpSp>
      <p:sp>
        <p:nvSpPr>
          <p:cNvPr id="9" name="Titre 1">
            <a:extLst>
              <a:ext uri="{FF2B5EF4-FFF2-40B4-BE49-F238E27FC236}">
                <a16:creationId xmlns:a16="http://schemas.microsoft.com/office/drawing/2014/main" id="{79B20939-1388-CA86-C266-0E22C3BAF28B}"/>
              </a:ext>
            </a:extLst>
          </p:cNvPr>
          <p:cNvSpPr txBox="1">
            <a:spLocks/>
          </p:cNvSpPr>
          <p:nvPr/>
        </p:nvSpPr>
        <p:spPr>
          <a:xfrm>
            <a:off x="45413" y="950964"/>
            <a:ext cx="11760591" cy="5642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Département d’Enseignement et de Recherche</a:t>
            </a:r>
            <a:r>
              <a:rPr lang="fr-FR" sz="25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5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fr-FR" sz="2500" b="1" dirty="0">
                <a:effectLst/>
                <a:latin typeface="Bahnschrift SemiCondensed" panose="020B0502040204020203" pitchFamily="34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Génie Mécanique, Energétique, Mines</a:t>
            </a:r>
            <a:endParaRPr lang="fr-FR" sz="2500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1CFF1823-C241-A551-0375-02BDDE5CC9DD}"/>
              </a:ext>
            </a:extLst>
          </p:cNvPr>
          <p:cNvSpPr txBox="1">
            <a:spLocks/>
          </p:cNvSpPr>
          <p:nvPr/>
        </p:nvSpPr>
        <p:spPr>
          <a:xfrm>
            <a:off x="-665871" y="1402261"/>
            <a:ext cx="11760591" cy="5642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2400" kern="100" dirty="0">
                <a:effectLst/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Document Pédagogique et Technique pour obtenir le grade de </a:t>
            </a:r>
            <a:r>
              <a:rPr lang="fr-FR" sz="2800" b="1" kern="100" dirty="0">
                <a:effectLst/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MASTER</a:t>
            </a:r>
            <a:endParaRPr lang="fr-FR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42A367F-5468-CDFA-B0ED-D13E2751E5D0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446" y="-43784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48A59D2E-9834-A078-9A52-D65B64C3C759}"/>
              </a:ext>
            </a:extLst>
          </p:cNvPr>
          <p:cNvSpPr txBox="1">
            <a:spLocks/>
          </p:cNvSpPr>
          <p:nvPr/>
        </p:nvSpPr>
        <p:spPr>
          <a:xfrm>
            <a:off x="611943" y="1845757"/>
            <a:ext cx="9748911" cy="10126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Mention : 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Energétique</a:t>
            </a:r>
            <a:endParaRPr lang="fr-FR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Spécialité : </a:t>
            </a:r>
            <a:r>
              <a:rPr lang="fr-FR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Energies renouvelables </a:t>
            </a:r>
            <a:endParaRPr lang="fr-FR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Diagramme 21">
            <a:extLst>
              <a:ext uri="{FF2B5EF4-FFF2-40B4-BE49-F238E27FC236}">
                <a16:creationId xmlns:a16="http://schemas.microsoft.com/office/drawing/2014/main" id="{66CDAF2A-30E3-EED5-F15B-51FAB49134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3745220"/>
              </p:ext>
            </p:extLst>
          </p:nvPr>
        </p:nvGraphicFramePr>
        <p:xfrm>
          <a:off x="4670474" y="2906867"/>
          <a:ext cx="2419643" cy="564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5" name="Titre 1">
            <a:extLst>
              <a:ext uri="{FF2B5EF4-FFF2-40B4-BE49-F238E27FC236}">
                <a16:creationId xmlns:a16="http://schemas.microsoft.com/office/drawing/2014/main" id="{0DEBB601-32CC-775E-D74D-036244D0A5F7}"/>
              </a:ext>
            </a:extLst>
          </p:cNvPr>
          <p:cNvSpPr txBox="1">
            <a:spLocks/>
          </p:cNvSpPr>
          <p:nvPr/>
        </p:nvSpPr>
        <p:spPr>
          <a:xfrm>
            <a:off x="2611903" y="4423747"/>
            <a:ext cx="5964701" cy="5642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2800" b="1" kern="100" dirty="0">
                <a:effectLst/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Présenté par : Simaro DEMBELE</a:t>
            </a:r>
            <a:endParaRPr lang="fr-FR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13B3A349-B75F-A3E8-2B9B-D0346DCBA59D}"/>
              </a:ext>
            </a:extLst>
          </p:cNvPr>
          <p:cNvGrpSpPr/>
          <p:nvPr/>
        </p:nvGrpSpPr>
        <p:grpSpPr>
          <a:xfrm>
            <a:off x="-2" y="5167493"/>
            <a:ext cx="12237418" cy="1853753"/>
            <a:chOff x="0" y="5020"/>
            <a:chExt cx="10058399" cy="767520"/>
          </a:xfrm>
        </p:grpSpPr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7DCA68A0-D28F-FBBF-1609-C9254123297A}"/>
                </a:ext>
              </a:extLst>
            </p:cNvPr>
            <p:cNvSpPr/>
            <p:nvPr/>
          </p:nvSpPr>
          <p:spPr>
            <a:xfrm>
              <a:off x="0" y="5020"/>
              <a:ext cx="10058399" cy="76752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fr-FR" dirty="0"/>
            </a:p>
          </p:txBody>
        </p:sp>
        <p:sp>
          <p:nvSpPr>
            <p:cNvPr id="18" name="Rectangle : coins arrondis 4">
              <a:extLst>
                <a:ext uri="{FF2B5EF4-FFF2-40B4-BE49-F238E27FC236}">
                  <a16:creationId xmlns:a16="http://schemas.microsoft.com/office/drawing/2014/main" id="{2B5A1611-7D4F-C07F-17C2-0390F96248FE}"/>
                </a:ext>
              </a:extLst>
            </p:cNvPr>
            <p:cNvSpPr txBox="1"/>
            <p:nvPr/>
          </p:nvSpPr>
          <p:spPr>
            <a:xfrm>
              <a:off x="37467" y="42487"/>
              <a:ext cx="9983465" cy="73005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28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 Directeur de Mémoire                                            Encadrant</a:t>
              </a:r>
              <a:endParaRPr lang="fr-F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2800" b="1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Dr Souleymane COULIBALY                      Ing Youssouf SANOG</a:t>
              </a:r>
              <a:r>
                <a:rPr lang="fr-FR" sz="28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2800" b="1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                                                          </a:t>
              </a:r>
              <a:r>
                <a:rPr lang="fr-FR" sz="2800" b="1" kern="1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Août 2026</a:t>
              </a:r>
              <a:endParaRPr lang="fr-FR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30642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00824F-EE1C-7968-F767-F2EF3E801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SOMMAIRE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95A1944A-350E-BE1B-86B2-79F0C05C2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6371" y="2555702"/>
            <a:ext cx="4937760" cy="4023360"/>
          </a:xfrm>
        </p:spPr>
        <p:txBody>
          <a:bodyPr>
            <a:normAutofit fontScale="2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l’ école d’accueil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Activités pédagogiques menées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Difficultés rencontrées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apportées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Recommandations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8D20EB91-301D-81E7-1358-370F49B55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5563" y="2558917"/>
            <a:ext cx="4937760" cy="4023360"/>
          </a:xfrm>
        </p:spPr>
        <p:txBody>
          <a:bodyPr>
            <a:normAutofit fontScale="25000" lnSpcReduction="20000"/>
          </a:bodyPr>
          <a:lstStyle/>
          <a:p>
            <a:pPr marL="1371600" indent="-13716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Contexte et motivation</a:t>
            </a:r>
          </a:p>
          <a:p>
            <a:pPr marL="1371600" indent="-13716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Problématiques</a:t>
            </a:r>
          </a:p>
          <a:p>
            <a:pPr marL="1371600" indent="-13716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Objectifs du travail</a:t>
            </a:r>
          </a:p>
          <a:p>
            <a:pPr marL="1371600" indent="-13716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la boulangerie YORO (Manantali)</a:t>
            </a:r>
          </a:p>
          <a:p>
            <a:pPr marL="1371600" indent="-13716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Méthodologie</a:t>
            </a:r>
          </a:p>
          <a:p>
            <a:pPr marL="1371600" indent="-13716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 obtenus</a:t>
            </a:r>
          </a:p>
          <a:p>
            <a:pPr marL="1371600" indent="-13716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Avantages</a:t>
            </a:r>
          </a:p>
          <a:p>
            <a:pPr marL="1371600" indent="-1371600">
              <a:buFont typeface="+mj-lt"/>
              <a:buAutoNum type="arabicPeriod"/>
            </a:pPr>
            <a:r>
              <a:rPr lang="fr-FR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CB875C5-133A-AE79-FA8B-BD877EB0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F0AC1A-3B15-94E9-847F-2C6D519FACF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00013" y="1924230"/>
            <a:ext cx="4938713" cy="736600"/>
          </a:xfrm>
        </p:spPr>
        <p:txBody>
          <a:bodyPr>
            <a:normAutofit/>
          </a:bodyPr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PEDAGOGIQUE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DF4A635-B338-0A47-557E-71CBB79F119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424487" y="1938378"/>
            <a:ext cx="4937125" cy="736600"/>
          </a:xfrm>
        </p:spPr>
        <p:txBody>
          <a:bodyPr>
            <a:normAutofit/>
          </a:bodyPr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TECHNIQUE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B13F1CE-F0F5-486C-53FB-63A262523BC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98" y="196972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8156564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8442704D-5916-EF25-62B4-D67D4E9F3950}"/>
              </a:ext>
            </a:extLst>
          </p:cNvPr>
          <p:cNvSpPr txBox="1">
            <a:spLocks/>
          </p:cNvSpPr>
          <p:nvPr/>
        </p:nvSpPr>
        <p:spPr>
          <a:xfrm>
            <a:off x="1731169" y="2890927"/>
            <a:ext cx="8729662" cy="107614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PEDAGOGIQUE</a:t>
            </a:r>
          </a:p>
        </p:txBody>
      </p:sp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29F0D61D-D07A-E2A9-D4D2-4C0D01E67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006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D1D36B77-09F3-2253-F9C2-99F7BF1B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l’ école d’accueil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B4CF1EA-2A09-42AC-DC27-A7245A4F3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1845733"/>
            <a:ext cx="6823291" cy="448362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éé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1969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par l’Ordonnance n°57/CMLN du 29 Octobre 1969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issue de l'ancien Bloc Scientifique </a:t>
            </a:r>
            <a:r>
              <a:rPr lang="fr-FR" sz="2400" u="sng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L’un des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premiers établissements d'enseignement technique et professionnel de Bamako.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Situé 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à Médina, en 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commune II du district de Bamako.</a:t>
            </a:r>
            <a:endParaRPr lang="fr-FR" sz="2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Relève de l'Académie d’Enseignement de la rive gauche de Bamako.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Etablissement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public</a:t>
            </a:r>
            <a:r>
              <a:rPr lang="fr-F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de formation professionnelle accueillant des apprenants</a:t>
            </a:r>
            <a:r>
              <a:rPr lang="fr-FR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nationaux et internationaux. </a:t>
            </a:r>
            <a:endParaRPr lang="fr-FR" sz="2800" dirty="0"/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13390DD0-C76C-1443-DFA5-0825F4CDC8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194766" y="1737360"/>
            <a:ext cx="4317784" cy="2354791"/>
          </a:xfr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AB25883-9B3A-5B2E-07AE-CEC56E08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4050E3F-BD65-550B-5A70-7498AC4C3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4767" y="4104994"/>
            <a:ext cx="4317784" cy="222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7562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D16B70-D2F3-6425-8612-E8C523A9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Activités pédagogiques menées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82EBFD-506B-F0C1-FF28-3FD420931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2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Assist</a:t>
            </a:r>
            <a:r>
              <a:rPr lang="fr-FR" sz="2400" kern="0" dirty="0">
                <a:latin typeface="Times New Roman" panose="02020603050405020304" pitchFamily="18" charset="0"/>
                <a:ea typeface="Calibri" panose="020F0502020204030204" pitchFamily="34" charset="0"/>
              </a:rPr>
              <a:t>er</a:t>
            </a:r>
            <a:r>
              <a:rPr lang="fr-FR" sz="2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un </a:t>
            </a:r>
            <a:r>
              <a:rPr lang="fr-FR" sz="2400" kern="0" dirty="0">
                <a:latin typeface="Times New Roman" panose="02020603050405020304" pitchFamily="18" charset="0"/>
                <a:ea typeface="Calibri" panose="020F0502020204030204" pitchFamily="34" charset="0"/>
              </a:rPr>
              <a:t>professeur titulaire en BT2</a:t>
            </a:r>
            <a:r>
              <a:rPr lang="fr-FR" sz="2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Enseigner les cours du calcul projet;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Surveiller  </a:t>
            </a:r>
            <a:r>
              <a:rPr lang="fr-FR" sz="2400" kern="0" dirty="0">
                <a:latin typeface="Times New Roman" panose="02020603050405020304" pitchFamily="18" charset="0"/>
                <a:ea typeface="Calibri" panose="020F0502020204030204" pitchFamily="34" charset="0"/>
              </a:rPr>
              <a:t>l</a:t>
            </a:r>
            <a:r>
              <a:rPr lang="fr-FR" sz="2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es devoirs, compositions et examens;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kern="0" dirty="0">
                <a:latin typeface="Times New Roman" panose="02020603050405020304" pitchFamily="18" charset="0"/>
                <a:ea typeface="Calibri" panose="020F0502020204030204" pitchFamily="34" charset="0"/>
              </a:rPr>
              <a:t>C</a:t>
            </a:r>
            <a:r>
              <a:rPr lang="fr-FR" sz="2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orriger </a:t>
            </a:r>
            <a:r>
              <a:rPr lang="fr-FR" sz="2400" kern="0" dirty="0">
                <a:latin typeface="Times New Roman" panose="02020603050405020304" pitchFamily="18" charset="0"/>
                <a:ea typeface="Calibri" panose="020F0502020204030204" pitchFamily="34" charset="0"/>
              </a:rPr>
              <a:t>l</a:t>
            </a:r>
            <a:r>
              <a:rPr lang="fr-FR" sz="2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es copies.</a:t>
            </a:r>
            <a:endParaRPr lang="fr-FR" sz="2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66AB96-9DEA-D80D-2365-688A02FA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05178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B1233-C4E7-3CDC-CED3-4AEB042F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Difficultés rencontrées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C6CE3C-8417-916D-DBA4-E7D905302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 le plan matériel</a:t>
            </a:r>
          </a:p>
          <a:p>
            <a:pPr marL="0" indent="0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 de difficulté rencontr</a:t>
            </a:r>
            <a:r>
              <a:rPr lang="fr-FR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ce niveau.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 le plan pédagogique</a:t>
            </a:r>
          </a:p>
          <a:p>
            <a:pPr marL="0" indent="0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L’absence ou retard des élèves </a:t>
            </a:r>
          </a:p>
          <a:p>
            <a:pPr marL="0" indent="0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élèves n’apprennent pas à la maison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 le plan socioculturel </a:t>
            </a:r>
          </a:p>
          <a:p>
            <a:pPr marL="0" indent="0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démission des parents d’élèves de leur rôles par rapport à l’ éducation des enfants</a:t>
            </a:r>
          </a:p>
          <a:p>
            <a:pPr marL="0" indent="0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L’indiscipline de certains élèves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A9B4D3-75EA-1C82-AC18-0FD8D957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282573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A31EEC-3129-D449-E617-398A2C54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apportées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BDF7EA-B682-534D-CDC2-4EEBDA2C8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 le plan pédagogique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Reprendre les notions fondamentales des classes antérieures afin de corriger les connaissances erronées  et consolider les acquis;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Assurer un suivi régulier des apprenants grâce à l’assiduité, la ponctualité et une démarche pédagogique adaptée à leurs besoins.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 le plan socioculturel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Développer chez les apprenants l’intérêt pour leur spécialité en mettant en avant son importance et ses débouches professionnels;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Encourager les apprenants en difficultés, les aider à s’exprimer librement et renforcer leur estime de soi. 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CBF1CC-7D0F-3F2B-6CF1-9D2A10009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48901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070B32-1D84-3CD7-F133-6C9CC504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05348F-320A-57BC-648D-1623FF756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fr-FR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stage que j’ai d’effectu</a:t>
            </a:r>
            <a:r>
              <a:rPr lang="fr-FR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été très profitable pour moi.</a:t>
            </a:r>
          </a:p>
          <a:p>
            <a:pPr marL="0" indent="0" algn="just">
              <a:buNone/>
            </a:pPr>
            <a:r>
              <a:rPr lang="fr-FR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 m’a permis de renforcer mes connaissances scientifiques et techniques sur les plans théorique et pratique</a:t>
            </a:r>
            <a:r>
              <a:rPr lang="fr-FR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surtout </a:t>
            </a:r>
            <a:r>
              <a:rPr lang="fr-FR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la familiarisation avec la grande famille des éducateurs.</a:t>
            </a:r>
          </a:p>
          <a:p>
            <a:pPr marL="0" indent="0" algn="just">
              <a:buNone/>
            </a:pPr>
            <a:r>
              <a:rPr lang="fr-FR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J’ai découvert un monde de cohésion, de solidarité, de fraternité et de sociabilité</a:t>
            </a: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94C18F-B4D1-9436-54AF-EE7688EE8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995008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0AF28-3DD6-96E3-72DB-ED6C4498E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Recommandations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A0E7C2-8A81-FA11-B572-F9D82F04F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>
            <a:normAutofit fontScale="77500" lnSpcReduction="20000"/>
          </a:bodyPr>
          <a:lstStyle/>
          <a:p>
            <a:pPr marR="1905" lvl="0" algn="just">
              <a:lnSpc>
                <a:spcPct val="150000"/>
              </a:lnSpc>
              <a:spcBef>
                <a:spcPts val="0"/>
              </a:spcBef>
              <a:spcAft>
                <a:spcPts val="725"/>
              </a:spcAft>
              <a:buFont typeface="Wingdings" panose="05000000000000000000" pitchFamily="2" charset="2"/>
              <a:buChar char="§"/>
            </a:pPr>
            <a:r>
              <a:rPr lang="fr-FR" sz="3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Doter les écoles techniques et professionnelles de matériels didactique ; </a:t>
            </a:r>
            <a:endParaRPr lang="fr-FR" sz="3400" kern="100" dirty="0">
              <a:effectLst/>
              <a:latin typeface="Symbol" panose="05050102010706020507" pitchFamily="18" charset="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1905" lvl="0" algn="just">
              <a:lnSpc>
                <a:spcPct val="150000"/>
              </a:lnSpc>
              <a:spcBef>
                <a:spcPts val="0"/>
              </a:spcBef>
              <a:spcAft>
                <a:spcPts val="725"/>
              </a:spcAft>
              <a:buFont typeface="Wingdings" panose="05000000000000000000" pitchFamily="2" charset="2"/>
              <a:buChar char="§"/>
            </a:pPr>
            <a:r>
              <a:rPr lang="fr-FR" sz="3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Renforcer la formation continue des enseignants; </a:t>
            </a:r>
            <a:endParaRPr lang="fr-FR" sz="3400" kern="100" dirty="0">
              <a:effectLst/>
              <a:latin typeface="Symbol" panose="05050102010706020507" pitchFamily="18" charset="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1905" lvl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FR" sz="3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Implanter une bibliothèque scolaire équipée dans les établissements d’enseignement technique et professionnel ; </a:t>
            </a:r>
            <a:endParaRPr lang="fr-FR" sz="3400" kern="100" dirty="0">
              <a:effectLst/>
              <a:latin typeface="Symbol" panose="05050102010706020507" pitchFamily="18" charset="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1905" lvl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FR" sz="34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Multiplier les exposés pendant la formation théorique à l’ENETP ;</a:t>
            </a:r>
            <a:endParaRPr lang="fr-FR" sz="3400" kern="100" dirty="0">
              <a:effectLst/>
              <a:latin typeface="Symbol" panose="05050102010706020507" pitchFamily="18" charset="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fr-FR" sz="3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Multiplier les visites d’entreprises pour plus de partenariats entre l’établissements et les entreprises.</a:t>
            </a:r>
            <a:endParaRPr lang="fr-FR" sz="3400" kern="100" dirty="0">
              <a:effectLst/>
              <a:latin typeface="Symbol" panose="05050102010706020507" pitchFamily="18" charset="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3F4AF6-D594-712A-842E-B30A6624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061748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BEAE2C-EEED-A89B-BF64-7E56580D0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4F280F2-CCA4-47DD-00B9-C295E29D4460}"/>
              </a:ext>
            </a:extLst>
          </p:cNvPr>
          <p:cNvSpPr txBox="1"/>
          <p:nvPr/>
        </p:nvSpPr>
        <p:spPr>
          <a:xfrm>
            <a:off x="1743075" y="2967335"/>
            <a:ext cx="82602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TECHNIQUE</a:t>
            </a:r>
          </a:p>
        </p:txBody>
      </p:sp>
    </p:spTree>
    <p:extLst>
      <p:ext uri="{BB962C8B-B14F-4D97-AF65-F5344CB8AC3E}">
        <p14:creationId xmlns:p14="http://schemas.microsoft.com/office/powerpoint/2010/main" val="243977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801FD9-8745-E776-FA41-C1C3B30EA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 et motivations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879BAC-EF50-173D-E932-365737F06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7107" y="1845733"/>
            <a:ext cx="11292967" cy="4455055"/>
          </a:xfrm>
        </p:spPr>
        <p:txBody>
          <a:bodyPr>
            <a:normAutofit fontScale="25000" lnSpcReduction="20000"/>
          </a:bodyPr>
          <a:lstStyle/>
          <a:p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Mali, de nombreuse zones rurales manques encore d’une alimentation électrique stable, voir n’en disposent pas.</a:t>
            </a:r>
          </a:p>
          <a:p>
            <a:endParaRPr lang="fr-FR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à ces contraintes, l’énergie solaire photovoltaïque apparait comme une solution pertinente, durable et adaptée au contexte rural malien, caractérisé par un fort ensoleillement annuel. 5,5 à 7,5 kWh/m</a:t>
            </a:r>
            <a:r>
              <a:rPr lang="fr-FR" sz="9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/jour selon </a:t>
            </a:r>
            <a:r>
              <a:rPr lang="fr-FR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Solarvance</a:t>
            </a:r>
            <a:endParaRPr lang="fr-FR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C6C65F6C-2BB4-513C-CE31-3AB5D11574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429500" y="2528888"/>
            <a:ext cx="3497952" cy="2591753"/>
          </a:xfr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88A764-221E-DED1-2033-4242DF120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2949859-58BB-CF0D-94B9-BB4A3BA7FC1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695" y="178228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054B940-B17E-F027-55C0-AE5D85220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107" y="2528888"/>
            <a:ext cx="5747624" cy="259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CE8B6A-F252-0E6A-1B71-0A1C0F09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 et motivation</a:t>
            </a:r>
            <a:endParaRPr lang="fr-FR" dirty="0"/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828A5A5F-13BE-C18A-FDC4-7B0F2EBB301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61964180"/>
              </p:ext>
            </p:extLst>
          </p:nvPr>
        </p:nvGraphicFramePr>
        <p:xfrm>
          <a:off x="649494" y="1965209"/>
          <a:ext cx="5321589" cy="449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A70F024-17F6-DCBB-D23B-A92CD71B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6256" y="1756221"/>
            <a:ext cx="5986073" cy="3797616"/>
          </a:xfrm>
        </p:spPr>
        <p:txBody>
          <a:bodyPr>
            <a:no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données météo de Manantali (NASA-SSE)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L’irradiation globale de la zone Manantali pour l’année 2025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IRmaxi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=6,75 kWh/m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/jour</a:t>
            </a: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IRmin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=5,11 kWh/m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/jour</a:t>
            </a:r>
            <a:endParaRPr lang="fr-FR" sz="2400" dirty="0"/>
          </a:p>
          <a:p>
            <a:pPr>
              <a:lnSpc>
                <a:spcPct val="10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Ecart moyen=0,51 kWh/m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/jour</a:t>
            </a:r>
            <a:endParaRPr lang="fr-FR" sz="2400" dirty="0"/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Moyenne= 5,73 kWh/m</a:t>
            </a:r>
            <a:r>
              <a:rPr lang="fr-FR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/jour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AA3159D-6935-1B49-C547-3CF41644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2ECC3C5-2E45-7F2F-64F7-BA9679B829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0718" y="2157413"/>
            <a:ext cx="6266596" cy="3257550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FF4BEC18-48D8-7915-395D-0A7371AD5C42}"/>
              </a:ext>
            </a:extLst>
          </p:cNvPr>
          <p:cNvGrpSpPr/>
          <p:nvPr/>
        </p:nvGrpSpPr>
        <p:grpSpPr>
          <a:xfrm>
            <a:off x="6096000" y="5534976"/>
            <a:ext cx="5689744" cy="772731"/>
            <a:chOff x="-119459" y="3505811"/>
            <a:chExt cx="5441048" cy="586364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B0899E16-47B8-6BC0-77AD-081DF0A064E9}"/>
                </a:ext>
              </a:extLst>
            </p:cNvPr>
            <p:cNvSpPr/>
            <p:nvPr/>
          </p:nvSpPr>
          <p:spPr>
            <a:xfrm rot="10800000" flipV="1">
              <a:off x="0" y="3505811"/>
              <a:ext cx="5321589" cy="586364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angle : coins arrondis 4">
              <a:extLst>
                <a:ext uri="{FF2B5EF4-FFF2-40B4-BE49-F238E27FC236}">
                  <a16:creationId xmlns:a16="http://schemas.microsoft.com/office/drawing/2014/main" id="{595DC584-5EA2-DC17-5953-124C2AE8A0FB}"/>
                </a:ext>
              </a:extLst>
            </p:cNvPr>
            <p:cNvSpPr txBox="1"/>
            <p:nvPr/>
          </p:nvSpPr>
          <p:spPr>
            <a:xfrm>
              <a:off x="-119459" y="3534435"/>
              <a:ext cx="5412423" cy="5291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2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Fig. 1: Rayonnement quotidien de la zone de Manantali</a:t>
              </a:r>
            </a:p>
          </p:txBody>
        </p:sp>
      </p:grpSp>
      <p:pic>
        <p:nvPicPr>
          <p:cNvPr id="10" name="Image 9">
            <a:extLst>
              <a:ext uri="{FF2B5EF4-FFF2-40B4-BE49-F238E27FC236}">
                <a16:creationId xmlns:a16="http://schemas.microsoft.com/office/drawing/2014/main" id="{CC410C49-1F77-8E4E-B9D8-307D2C142893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98" y="188993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597100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706BB5-CB9A-1AD1-4254-CA4350DE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 et motivation 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F09E8F0-317E-7A16-2343-3BB259F26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74252E3-51F5-1B97-D471-905843C5A347}"/>
              </a:ext>
            </a:extLst>
          </p:cNvPr>
          <p:cNvSpPr txBox="1"/>
          <p:nvPr/>
        </p:nvSpPr>
        <p:spPr>
          <a:xfrm>
            <a:off x="509588" y="1921228"/>
            <a:ext cx="6096000" cy="40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données météo de Manantali  (NASA-SSE)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Température de la zone Manantali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l’année 2025.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Tmaxi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=32,6 °C</a:t>
            </a:r>
          </a:p>
          <a:p>
            <a:pPr>
              <a:lnSpc>
                <a:spcPct val="150000"/>
              </a:lnSpc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Tmin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=25,3 °C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Ecart moyen=2,10°C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Moyenne=27,98°C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23E3DB4-3414-BA4D-E1AC-654E6A673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779" y="2240897"/>
            <a:ext cx="6227447" cy="3364505"/>
          </a:xfrm>
          <a:prstGeom prst="rect">
            <a:avLst/>
          </a:prstGeom>
        </p:spPr>
      </p:pic>
      <p:graphicFrame>
        <p:nvGraphicFramePr>
          <p:cNvPr id="11" name="Espace réservé du contenu 4">
            <a:extLst>
              <a:ext uri="{FF2B5EF4-FFF2-40B4-BE49-F238E27FC236}">
                <a16:creationId xmlns:a16="http://schemas.microsoft.com/office/drawing/2014/main" id="{5A1A1F1E-7236-C3BB-5CB9-12EB4EEA6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478719"/>
              </p:ext>
            </p:extLst>
          </p:nvPr>
        </p:nvGraphicFramePr>
        <p:xfrm>
          <a:off x="4572000" y="5605402"/>
          <a:ext cx="7620000" cy="748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150447BE-6C02-C391-3A6B-BC0E3CEEC7C2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98" y="197032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70031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Graphic spid="11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A09140-1E41-571D-0A4D-976EB6F83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Problématiques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8908BA-CA17-68D9-AD0E-9C9E9C7DF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1094720" cy="4614051"/>
          </a:xfrm>
        </p:spPr>
        <p:txBody>
          <a:bodyPr>
            <a:normAutofit fontScale="85000" lnSpcReduction="20000"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>
              <a:buFont typeface="Wingdings" panose="05000000000000000000" pitchFamily="2" charset="2"/>
              <a:buChar char="§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principale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 alimenter une boulangerie de manière autonome et fiable avec l’énergie photovoltaïques ?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3D2613-9CFB-7A5C-EF08-7B8E00D7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13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7A4FA4-7426-CE04-8635-08E2EA0C97C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98" y="202228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9E82DDF5-9182-5875-8618-4DFCA02C0FA5}"/>
              </a:ext>
            </a:extLst>
          </p:cNvPr>
          <p:cNvSpPr/>
          <p:nvPr/>
        </p:nvSpPr>
        <p:spPr>
          <a:xfrm>
            <a:off x="1709737" y="1758652"/>
            <a:ext cx="4929188" cy="216312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76%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55% </a:t>
            </a:r>
          </a:p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24%</a:t>
            </a:r>
          </a:p>
          <a:p>
            <a:pPr algn="ctr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</a:t>
            </a:r>
            <a:endParaRPr lang="fr-FR" sz="2400" dirty="0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E076FDF9-2658-1EF0-A558-910A4356EF58}"/>
              </a:ext>
            </a:extLst>
          </p:cNvPr>
          <p:cNvSpPr/>
          <p:nvPr/>
        </p:nvSpPr>
        <p:spPr>
          <a:xfrm flipV="1">
            <a:off x="3893003" y="2076701"/>
            <a:ext cx="742950" cy="45719"/>
          </a:xfrm>
          <a:prstGeom prst="rightArrow">
            <a:avLst/>
          </a:prstGeom>
          <a:solidFill>
            <a:schemeClr val="bg1"/>
          </a:solidFill>
          <a:ln w="571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41A32FA3-EB4E-8355-8F9B-95BEEA60F227}"/>
              </a:ext>
            </a:extLst>
          </p:cNvPr>
          <p:cNvSpPr/>
          <p:nvPr/>
        </p:nvSpPr>
        <p:spPr>
          <a:xfrm flipV="1">
            <a:off x="3893003" y="2790211"/>
            <a:ext cx="742950" cy="45719"/>
          </a:xfrm>
          <a:prstGeom prst="rightArrow">
            <a:avLst/>
          </a:prstGeom>
          <a:solidFill>
            <a:schemeClr val="bg1"/>
          </a:solidFill>
          <a:ln w="571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57150">
                <a:solidFill>
                  <a:schemeClr val="tx1"/>
                </a:solidFill>
              </a:ln>
            </a:endParaRP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FB9CB21-97CF-F68D-FF7D-16942D9F1ACE}"/>
              </a:ext>
            </a:extLst>
          </p:cNvPr>
          <p:cNvCxnSpPr>
            <a:cxnSpLocks/>
            <a:stCxn id="15" idx="1"/>
            <a:endCxn id="16" idx="1"/>
          </p:cNvCxnSpPr>
          <p:nvPr/>
        </p:nvCxnSpPr>
        <p:spPr>
          <a:xfrm>
            <a:off x="3893003" y="2099560"/>
            <a:ext cx="0" cy="71351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AE2363A9-2CC3-CA21-0165-C39181F9E844}"/>
              </a:ext>
            </a:extLst>
          </p:cNvPr>
          <p:cNvSpPr/>
          <p:nvPr/>
        </p:nvSpPr>
        <p:spPr>
          <a:xfrm flipV="1">
            <a:off x="3521533" y="2407825"/>
            <a:ext cx="371470" cy="45719"/>
          </a:xfrm>
          <a:prstGeom prst="rightArrow">
            <a:avLst/>
          </a:prstGeom>
          <a:solidFill>
            <a:schemeClr val="bg1"/>
          </a:solidFill>
          <a:ln w="571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19" name="Flèche : angle droit 18">
            <a:extLst>
              <a:ext uri="{FF2B5EF4-FFF2-40B4-BE49-F238E27FC236}">
                <a16:creationId xmlns:a16="http://schemas.microsoft.com/office/drawing/2014/main" id="{AD49E7F6-7075-7ECA-2410-A3B7A1B31333}"/>
              </a:ext>
            </a:extLst>
          </p:cNvPr>
          <p:cNvSpPr/>
          <p:nvPr/>
        </p:nvSpPr>
        <p:spPr>
          <a:xfrm>
            <a:off x="-522515" y="3969243"/>
            <a:ext cx="4929188" cy="62032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 : angle droit 19">
            <a:extLst>
              <a:ext uri="{FF2B5EF4-FFF2-40B4-BE49-F238E27FC236}">
                <a16:creationId xmlns:a16="http://schemas.microsoft.com/office/drawing/2014/main" id="{B775EB77-B49C-3A9C-EB99-FB1FF655281E}"/>
              </a:ext>
            </a:extLst>
          </p:cNvPr>
          <p:cNvSpPr/>
          <p:nvPr/>
        </p:nvSpPr>
        <p:spPr>
          <a:xfrm>
            <a:off x="-522515" y="4381522"/>
            <a:ext cx="8528506" cy="607809"/>
          </a:xfrm>
          <a:prstGeom prst="bent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Flèche : angle droit à deux pointes 21">
            <a:extLst>
              <a:ext uri="{FF2B5EF4-FFF2-40B4-BE49-F238E27FC236}">
                <a16:creationId xmlns:a16="http://schemas.microsoft.com/office/drawing/2014/main" id="{99EC30A7-7CAB-C95B-23F9-4045A3C38FD1}"/>
              </a:ext>
            </a:extLst>
          </p:cNvPr>
          <p:cNvSpPr/>
          <p:nvPr/>
        </p:nvSpPr>
        <p:spPr>
          <a:xfrm rot="5400000">
            <a:off x="8036963" y="3863283"/>
            <a:ext cx="840757" cy="1508077"/>
          </a:xfrm>
          <a:prstGeom prst="leftUpArrow">
            <a:avLst>
              <a:gd name="adj1" fmla="val 25000"/>
              <a:gd name="adj2" fmla="val 18634"/>
              <a:gd name="adj3" fmla="val 54244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D861F1-B8B0-BB3E-6CAF-78A745089B7E}"/>
              </a:ext>
            </a:extLst>
          </p:cNvPr>
          <p:cNvSpPr/>
          <p:nvPr/>
        </p:nvSpPr>
        <p:spPr>
          <a:xfrm>
            <a:off x="6819219" y="2686361"/>
            <a:ext cx="5372777" cy="1485278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Coupures fréquentes d’électricité due à un déficit de production face à une  demande croissante.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EBCDB8-54FA-CE5D-2CED-8F4E7535B2FB}"/>
              </a:ext>
            </a:extLst>
          </p:cNvPr>
          <p:cNvSpPr/>
          <p:nvPr/>
        </p:nvSpPr>
        <p:spPr>
          <a:xfrm>
            <a:off x="9158514" y="4515438"/>
            <a:ext cx="3033486" cy="709693"/>
          </a:xfrm>
          <a:prstGeom prst="rect">
            <a:avLst/>
          </a:prstGeom>
          <a:solidFill>
            <a:srgbClr val="00B050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Dépendance au réseau électrique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65792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15" grpId="0" animBg="1"/>
      <p:bldP spid="16" grpId="0" animBg="1"/>
      <p:bldP spid="18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278790-7E4A-179C-1682-1FEF8750C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Objectifs du travail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FAB1F17-D3B1-9F3D-C642-9B875CAB1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7812" y="1744391"/>
            <a:ext cx="8058149" cy="4431558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fr-FR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 général</a:t>
            </a:r>
            <a:endParaRPr lang="fr-FR" sz="96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fr-FR" sz="9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Concevoir et optimiser un système photovoltaïque autonome pour alimenter durablement et de manière fiable la boulangerie YORO de Manantali.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fr-FR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Objectifs spécifiques</a:t>
            </a: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"/>
            </a:pPr>
            <a:r>
              <a:rPr lang="fr-FR" sz="9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Evaluer les besoins énergétiques de la boulangerie ;</a:t>
            </a:r>
            <a:endParaRPr lang="fr-FR" sz="9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"/>
            </a:pPr>
            <a:r>
              <a:rPr lang="fr-FR" sz="9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Présenter le potentiel solaire du site de Manantali ;</a:t>
            </a:r>
            <a:endParaRPr lang="fr-FR" sz="96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fr-FR" sz="9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Dimensionner les composants du système photovoltaïque ;</a:t>
            </a: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fr-FR" sz="9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Optimiser le système ;</a:t>
            </a:r>
          </a:p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fr-FR" sz="9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Evaluer les performances.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Espace réservé du contenu 11">
            <a:extLst>
              <a:ext uri="{FF2B5EF4-FFF2-40B4-BE49-F238E27FC236}">
                <a16:creationId xmlns:a16="http://schemas.microsoft.com/office/drawing/2014/main" id="{2EADB056-0932-C9B8-7819-FF347C0A64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538072" y="1744392"/>
            <a:ext cx="3653928" cy="4609896"/>
          </a:xfr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935E757-178C-6245-205B-C566F506E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14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E846588-207F-EC6E-CA08-A0B948383EA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98" y="170529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6063328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B8332B-B30D-1154-5124-98F0480F9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286603"/>
            <a:ext cx="11225212" cy="1450757"/>
          </a:xfrm>
        </p:spPr>
        <p:txBody>
          <a:bodyPr>
            <a:normAutofit/>
          </a:bodyPr>
          <a:lstStyle/>
          <a:p>
            <a:pPr algn="ctr"/>
            <a: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la boulangerie YORO (Manantali)</a:t>
            </a:r>
            <a:endParaRPr lang="fr-FR" sz="44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BE5597-B7B3-A03B-920F-ADB84978E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811" y="1845734"/>
            <a:ext cx="5792228" cy="4725664"/>
          </a:xfrm>
        </p:spPr>
        <p:txBody>
          <a:bodyPr>
            <a:normAutofit/>
          </a:bodyPr>
          <a:lstStyle/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boulangerie YORO est située à Manantali, à proximité du Barrage Hydroélectrique.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L’activité principale de la boulangerie YORO est la production du pain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capacité maximale de production est estimée à 30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sacs de farine par jour.</a:t>
            </a: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Soit une production journalière  de 13200 miches.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AD7102-0796-B590-0CC8-9CE482EAE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15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BD38E6A-EDC3-0061-B6BA-7A950428385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412" y="33090"/>
            <a:ext cx="1324341" cy="1070955"/>
          </a:xfrm>
          <a:prstGeom prst="rect">
            <a:avLst/>
          </a:prstGeom>
          <a:noFill/>
          <a:ln>
            <a:noFill/>
            <a:prstDash val="solid"/>
          </a:ln>
        </p:spPr>
      </p:pic>
      <p:pic>
        <p:nvPicPr>
          <p:cNvPr id="7" name="Espace réservé du contenu 5">
            <a:extLst>
              <a:ext uri="{FF2B5EF4-FFF2-40B4-BE49-F238E27FC236}">
                <a16:creationId xmlns:a16="http://schemas.microsoft.com/office/drawing/2014/main" id="{B981C574-2D87-8375-6156-50E52B715E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37359"/>
            <a:ext cx="5853189" cy="1745116"/>
          </a:xfrm>
          <a:prstGeom prst="rect">
            <a:avLst/>
          </a:prstGeom>
        </p:spPr>
      </p:pic>
      <p:pic>
        <p:nvPicPr>
          <p:cNvPr id="8" name="Espace réservé du contenu 6">
            <a:extLst>
              <a:ext uri="{FF2B5EF4-FFF2-40B4-BE49-F238E27FC236}">
                <a16:creationId xmlns:a16="http://schemas.microsoft.com/office/drawing/2014/main" id="{8203C345-2814-FFD3-59E7-481FCCD6B5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213" y="3429000"/>
            <a:ext cx="2659976" cy="1473010"/>
          </a:xfrm>
          <a:prstGeom prst="rect">
            <a:avLst/>
          </a:prstGeom>
        </p:spPr>
      </p:pic>
      <p:pic>
        <p:nvPicPr>
          <p:cNvPr id="9" name="Espace réservé du contenu 7">
            <a:extLst>
              <a:ext uri="{FF2B5EF4-FFF2-40B4-BE49-F238E27FC236}">
                <a16:creationId xmlns:a16="http://schemas.microsoft.com/office/drawing/2014/main" id="{F4F355E3-C4C3-D34D-FA27-4FAB6721426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115" y="3482475"/>
            <a:ext cx="3252983" cy="297731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6CE6CD0-983B-EC37-E0BA-147479E991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174" y="4906050"/>
            <a:ext cx="2599015" cy="142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1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6400ED4C-739F-CC43-9E71-19398591F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Méthodologie de l’étude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B2156C2-9C15-4322-C866-8DFB8E23D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94B856-FF4A-CD05-585D-3DCEA46FC45D}"/>
              </a:ext>
            </a:extLst>
          </p:cNvPr>
          <p:cNvSpPr/>
          <p:nvPr/>
        </p:nvSpPr>
        <p:spPr>
          <a:xfrm>
            <a:off x="477981" y="1737360"/>
            <a:ext cx="4655128" cy="129678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fr-FR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5FA9140-55C0-2A0B-FE8F-92923863228E}"/>
              </a:ext>
            </a:extLst>
          </p:cNvPr>
          <p:cNvSpPr/>
          <p:nvPr/>
        </p:nvSpPr>
        <p:spPr>
          <a:xfrm>
            <a:off x="720437" y="2042068"/>
            <a:ext cx="4059380" cy="5571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Collecte des données  sur le terrain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9F5458-1C14-170E-1091-F2AC6D8092CA}"/>
              </a:ext>
            </a:extLst>
          </p:cNvPr>
          <p:cNvSpPr/>
          <p:nvPr/>
        </p:nvSpPr>
        <p:spPr>
          <a:xfrm>
            <a:off x="6705599" y="1737360"/>
            <a:ext cx="4655128" cy="129678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fr-FR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3421CAF-AA89-E0EE-1553-CDFD0318266F}"/>
              </a:ext>
            </a:extLst>
          </p:cNvPr>
          <p:cNvSpPr/>
          <p:nvPr/>
        </p:nvSpPr>
        <p:spPr>
          <a:xfrm>
            <a:off x="7058888" y="2042067"/>
            <a:ext cx="3948545" cy="5571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Analyse Energétique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B88F3E-B53B-BBCB-5D04-8DC450F06B1A}"/>
              </a:ext>
            </a:extLst>
          </p:cNvPr>
          <p:cNvSpPr/>
          <p:nvPr/>
        </p:nvSpPr>
        <p:spPr>
          <a:xfrm>
            <a:off x="477979" y="3315022"/>
            <a:ext cx="4655128" cy="129678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fr-FR"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9C3595B-A21B-3009-1BCA-3194C19301C1}"/>
              </a:ext>
            </a:extLst>
          </p:cNvPr>
          <p:cNvSpPr/>
          <p:nvPr/>
        </p:nvSpPr>
        <p:spPr>
          <a:xfrm>
            <a:off x="720437" y="3653623"/>
            <a:ext cx="4059379" cy="5571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Résultats obtenus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7F0FA4-6D35-DCC7-F87F-494AABD6F0BC}"/>
              </a:ext>
            </a:extLst>
          </p:cNvPr>
          <p:cNvSpPr/>
          <p:nvPr/>
        </p:nvSpPr>
        <p:spPr>
          <a:xfrm>
            <a:off x="6705598" y="3432380"/>
            <a:ext cx="4655128" cy="129678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fr-FR" dirty="0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91C0F44-C262-A8E9-E414-4B561BA93545}"/>
              </a:ext>
            </a:extLst>
          </p:cNvPr>
          <p:cNvSpPr/>
          <p:nvPr/>
        </p:nvSpPr>
        <p:spPr>
          <a:xfrm>
            <a:off x="7058889" y="3768246"/>
            <a:ext cx="3948546" cy="5571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Dimensionnement du système photovoltaïque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FA2229-7439-AD6D-FDEC-A331A23B7BA2}"/>
              </a:ext>
            </a:extLst>
          </p:cNvPr>
          <p:cNvSpPr/>
          <p:nvPr/>
        </p:nvSpPr>
        <p:spPr>
          <a:xfrm>
            <a:off x="477979" y="5016444"/>
            <a:ext cx="4655128" cy="129678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fr-FR" dirty="0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2AEDD400-2BB9-DA25-2951-7DBE5C50AAC1}"/>
              </a:ext>
            </a:extLst>
          </p:cNvPr>
          <p:cNvSpPr/>
          <p:nvPr/>
        </p:nvSpPr>
        <p:spPr>
          <a:xfrm>
            <a:off x="720438" y="5429314"/>
            <a:ext cx="4059378" cy="5571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Optimisation du système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B2F34D-A8AC-E7F7-E414-9873B2A64F42}"/>
              </a:ext>
            </a:extLst>
          </p:cNvPr>
          <p:cNvSpPr/>
          <p:nvPr/>
        </p:nvSpPr>
        <p:spPr>
          <a:xfrm>
            <a:off x="6705598" y="5059490"/>
            <a:ext cx="4655128" cy="129678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fr-FR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53C8A085-27DA-6EEB-55BE-FBDD8D27FA43}"/>
              </a:ext>
            </a:extLst>
          </p:cNvPr>
          <p:cNvSpPr/>
          <p:nvPr/>
        </p:nvSpPr>
        <p:spPr>
          <a:xfrm>
            <a:off x="7058889" y="5429312"/>
            <a:ext cx="3948545" cy="5571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Conclusion</a:t>
            </a:r>
          </a:p>
        </p:txBody>
      </p:sp>
      <p:sp>
        <p:nvSpPr>
          <p:cNvPr id="24" name="Flèche : droite 23">
            <a:extLst>
              <a:ext uri="{FF2B5EF4-FFF2-40B4-BE49-F238E27FC236}">
                <a16:creationId xmlns:a16="http://schemas.microsoft.com/office/drawing/2014/main" id="{16D6D30E-F02B-3FA5-4EF3-ABA002B3ADC0}"/>
              </a:ext>
            </a:extLst>
          </p:cNvPr>
          <p:cNvSpPr/>
          <p:nvPr/>
        </p:nvSpPr>
        <p:spPr>
          <a:xfrm>
            <a:off x="5133107" y="2257326"/>
            <a:ext cx="1572491" cy="3132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9C725020-BB18-4EB0-0103-1D021102A6F0}"/>
              </a:ext>
            </a:extLst>
          </p:cNvPr>
          <p:cNvSpPr/>
          <p:nvPr/>
        </p:nvSpPr>
        <p:spPr>
          <a:xfrm rot="10800000">
            <a:off x="5133105" y="3866493"/>
            <a:ext cx="1572491" cy="3132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CBCFEE88-2CD4-2B7A-3E19-92C0FFA83496}"/>
              </a:ext>
            </a:extLst>
          </p:cNvPr>
          <p:cNvSpPr/>
          <p:nvPr/>
        </p:nvSpPr>
        <p:spPr>
          <a:xfrm>
            <a:off x="5133106" y="5551277"/>
            <a:ext cx="1572491" cy="3132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riangle isocèle 28">
            <a:extLst>
              <a:ext uri="{FF2B5EF4-FFF2-40B4-BE49-F238E27FC236}">
                <a16:creationId xmlns:a16="http://schemas.microsoft.com/office/drawing/2014/main" id="{C5514E38-681F-1C5E-384A-87E89D58E282}"/>
              </a:ext>
            </a:extLst>
          </p:cNvPr>
          <p:cNvSpPr/>
          <p:nvPr/>
        </p:nvSpPr>
        <p:spPr>
          <a:xfrm rot="10800000">
            <a:off x="8922327" y="3034145"/>
            <a:ext cx="540328" cy="3982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riangle isocèle 30">
            <a:extLst>
              <a:ext uri="{FF2B5EF4-FFF2-40B4-BE49-F238E27FC236}">
                <a16:creationId xmlns:a16="http://schemas.microsoft.com/office/drawing/2014/main" id="{602318A5-EFA7-1561-C240-B7F366BDBAAA}"/>
              </a:ext>
            </a:extLst>
          </p:cNvPr>
          <p:cNvSpPr/>
          <p:nvPr/>
        </p:nvSpPr>
        <p:spPr>
          <a:xfrm rot="10800000">
            <a:off x="2479962" y="4625527"/>
            <a:ext cx="540328" cy="3982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C44C5C59-ABCF-ADC0-5AC8-A59B70F4C6F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98" y="108715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574958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B37E3-CDF1-BBA0-1AD7-4F257D27A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Equipements de la boulangerie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5F6DE5-E79C-44D9-36DE-4ADC9BC15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6742" y="3775785"/>
            <a:ext cx="1269402" cy="468057"/>
          </a:xfrm>
        </p:spPr>
        <p:txBody>
          <a:bodyPr>
            <a:normAutofit lnSpcReduction="10000"/>
          </a:bodyPr>
          <a:lstStyle/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Pétrin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62993479-AE14-20E9-27F8-254886EA586C}"/>
              </a:ext>
            </a:extLst>
          </p:cNvPr>
          <p:cNvSpPr txBox="1">
            <a:spLocks/>
          </p:cNvSpPr>
          <p:nvPr/>
        </p:nvSpPr>
        <p:spPr>
          <a:xfrm>
            <a:off x="1209339" y="19981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6600A99-E958-E8E1-84DA-2B1C61175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63" y="1737360"/>
            <a:ext cx="3110561" cy="201168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230354F-2342-8ED6-6B04-ABF65F9C33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428" y="1746872"/>
            <a:ext cx="2950500" cy="2028913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9375FE08-63E8-B853-A0C3-EE18070B901F}"/>
              </a:ext>
            </a:extLst>
          </p:cNvPr>
          <p:cNvSpPr txBox="1">
            <a:spLocks/>
          </p:cNvSpPr>
          <p:nvPr/>
        </p:nvSpPr>
        <p:spPr>
          <a:xfrm>
            <a:off x="4670272" y="3743401"/>
            <a:ext cx="2460812" cy="46805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Diviseur de pâte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313859F-A1A3-9CF8-34A1-2909E8F4C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4632" y="1718944"/>
            <a:ext cx="3026873" cy="2056841"/>
          </a:xfrm>
          <a:prstGeom prst="rect">
            <a:avLst/>
          </a:prstGeom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72BE634-DEAF-A21A-BE87-99FFDA1190CE}"/>
              </a:ext>
            </a:extLst>
          </p:cNvPr>
          <p:cNvSpPr txBox="1">
            <a:spLocks/>
          </p:cNvSpPr>
          <p:nvPr/>
        </p:nvSpPr>
        <p:spPr>
          <a:xfrm>
            <a:off x="7924948" y="3759439"/>
            <a:ext cx="3835998" cy="468057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Façonneuse de boulangerie 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4046CA9-FD23-0FFB-DE1A-3F1FFAC352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6" y="4211458"/>
            <a:ext cx="3110561" cy="169180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68F27E5-0011-F7CF-ED1E-B80C339559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428" y="4211459"/>
            <a:ext cx="2950500" cy="169180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9581B51-DBDE-5986-61E1-BCCA8AA5E2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484" y="4211458"/>
            <a:ext cx="3026873" cy="1691802"/>
          </a:xfrm>
          <a:prstGeom prst="rect">
            <a:avLst/>
          </a:prstGeom>
        </p:spPr>
      </p:pic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94205F47-AB13-1FDF-C4F2-A0C536626FCB}"/>
              </a:ext>
            </a:extLst>
          </p:cNvPr>
          <p:cNvSpPr txBox="1">
            <a:spLocks/>
          </p:cNvSpPr>
          <p:nvPr/>
        </p:nvSpPr>
        <p:spPr>
          <a:xfrm>
            <a:off x="716132" y="5962364"/>
            <a:ext cx="2672527" cy="468057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à bois utilisé</a:t>
            </a: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A987F172-9E24-6131-295F-FA36AA47A0B3}"/>
              </a:ext>
            </a:extLst>
          </p:cNvPr>
          <p:cNvSpPr txBox="1">
            <a:spLocks/>
          </p:cNvSpPr>
          <p:nvPr/>
        </p:nvSpPr>
        <p:spPr>
          <a:xfrm>
            <a:off x="4348215" y="5956725"/>
            <a:ext cx="3104925" cy="468057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Elévateur enfourneur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8238FDD7-3C2A-5CD0-48E3-59851EEA3F4F}"/>
              </a:ext>
            </a:extLst>
          </p:cNvPr>
          <p:cNvSpPr txBox="1">
            <a:spLocks/>
          </p:cNvSpPr>
          <p:nvPr/>
        </p:nvSpPr>
        <p:spPr>
          <a:xfrm>
            <a:off x="8765690" y="5887223"/>
            <a:ext cx="2389990" cy="468057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Réfrigérateurs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DF59E5-41EF-19D8-0777-712040AC1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17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EB5CC66-F179-BFCE-A32C-A1D55DC211F9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735" y="85452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77616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0" grpId="0"/>
      <p:bldP spid="14" grpId="0"/>
      <p:bldP spid="15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9EA4-C149-26D2-FB1B-735C6B7CF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C69D2B-33D6-A8F9-0FF1-AFC2B400E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45" y="286603"/>
            <a:ext cx="10227425" cy="1450757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Répartition de la consommation par poste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6C0719D-4819-2324-DA14-75B5DE51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18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1DE50EF1-3357-A8A2-733B-AB2CB30F696A}"/>
              </a:ext>
            </a:extLst>
          </p:cNvPr>
          <p:cNvGrpSpPr/>
          <p:nvPr/>
        </p:nvGrpSpPr>
        <p:grpSpPr>
          <a:xfrm>
            <a:off x="0" y="5906721"/>
            <a:ext cx="12192000" cy="553064"/>
            <a:chOff x="0" y="30891"/>
            <a:chExt cx="12192000" cy="1031078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D08CEC37-0B41-F2D4-80A0-F7A45D2D373A}"/>
                </a:ext>
              </a:extLst>
            </p:cNvPr>
            <p:cNvSpPr/>
            <p:nvPr/>
          </p:nvSpPr>
          <p:spPr>
            <a:xfrm>
              <a:off x="0" y="30891"/>
              <a:ext cx="12192000" cy="103107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 : coins arrondis 4">
              <a:extLst>
                <a:ext uri="{FF2B5EF4-FFF2-40B4-BE49-F238E27FC236}">
                  <a16:creationId xmlns:a16="http://schemas.microsoft.com/office/drawing/2014/main" id="{59D10692-4F57-3B90-E439-BE208A1CD635}"/>
                </a:ext>
              </a:extLst>
            </p:cNvPr>
            <p:cNvSpPr txBox="1"/>
            <p:nvPr/>
          </p:nvSpPr>
          <p:spPr>
            <a:xfrm>
              <a:off x="50332" y="30891"/>
              <a:ext cx="12141667" cy="8916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fr-FR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ource : données de consommation des équipements électriques de la boulangerie</a:t>
              </a:r>
            </a:p>
          </p:txBody>
        </p: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A78CF27C-6A15-12B1-28F6-B61368F9688B}"/>
              </a:ext>
            </a:extLst>
          </p:cNvPr>
          <p:cNvSpPr txBox="1"/>
          <p:nvPr/>
        </p:nvSpPr>
        <p:spPr>
          <a:xfrm>
            <a:off x="2831698" y="5506611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fr-F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 : Répartition de la consommation par équipements 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273F9EF-9E47-BC5E-25ED-98F733A10EE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98" y="108715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D5FC830-692C-A427-9E06-849555A5D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698" y="1758141"/>
            <a:ext cx="6215320" cy="376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0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403A05-6518-ED7E-EF16-38F83B9EC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23" y="286604"/>
            <a:ext cx="11193194" cy="1154269"/>
          </a:xfrm>
        </p:spPr>
        <p:txBody>
          <a:bodyPr>
            <a:normAutofit fontScale="90000"/>
          </a:bodyPr>
          <a:lstStyle/>
          <a:p>
            <a:r>
              <a:rPr lang="fr-FR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 de charge quotidien de la boulangerie</a:t>
            </a:r>
            <a:b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4000" dirty="0"/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C7E9BBE4-DCDF-EA95-85AA-D4DA439831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865969"/>
              </p:ext>
            </p:extLst>
          </p:nvPr>
        </p:nvGraphicFramePr>
        <p:xfrm>
          <a:off x="0" y="5578598"/>
          <a:ext cx="12192000" cy="992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217B2E2C-8F7E-0774-6199-48A1BBFBC3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" y="974602"/>
            <a:ext cx="11254154" cy="4603996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71619C-F6D5-921D-4D55-54CEAE2D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00471" y="6571396"/>
            <a:ext cx="1312025" cy="365125"/>
          </a:xfrm>
        </p:spPr>
        <p:txBody>
          <a:bodyPr/>
          <a:lstStyle/>
          <a:p>
            <a:r>
              <a:rPr lang="en-US" dirty="0"/>
              <a:t>19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5BC7F03-5284-92EC-E5B9-6A452F204381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588" y="142875"/>
            <a:ext cx="1454529" cy="1011394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110999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74C32A-1A67-2B36-CED1-C7A13461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Energétique</a:t>
            </a:r>
            <a:b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Besoins énergétiques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94E335EE-E47F-54D4-539D-CD489AE71D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900764"/>
              </p:ext>
            </p:extLst>
          </p:nvPr>
        </p:nvGraphicFramePr>
        <p:xfrm>
          <a:off x="3586162" y="6406923"/>
          <a:ext cx="5229225" cy="451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7A153075-9AEA-72A4-273F-6E93053EE5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8494469"/>
                  </p:ext>
                </p:extLst>
              </p:nvPr>
            </p:nvGraphicFramePr>
            <p:xfrm>
              <a:off x="328613" y="1737364"/>
              <a:ext cx="11600052" cy="464204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98534">
                      <a:extLst>
                        <a:ext uri="{9D8B030D-6E8A-4147-A177-3AD203B41FA5}">
                          <a16:colId xmlns:a16="http://schemas.microsoft.com/office/drawing/2014/main" val="1776332430"/>
                        </a:ext>
                      </a:extLst>
                    </a:gridCol>
                    <a:gridCol w="1166566">
                      <a:extLst>
                        <a:ext uri="{9D8B030D-6E8A-4147-A177-3AD203B41FA5}">
                          <a16:colId xmlns:a16="http://schemas.microsoft.com/office/drawing/2014/main" val="4224723684"/>
                        </a:ext>
                      </a:extLst>
                    </a:gridCol>
                    <a:gridCol w="2268094">
                      <a:extLst>
                        <a:ext uri="{9D8B030D-6E8A-4147-A177-3AD203B41FA5}">
                          <a16:colId xmlns:a16="http://schemas.microsoft.com/office/drawing/2014/main" val="3607344863"/>
                        </a:ext>
                      </a:extLst>
                    </a:gridCol>
                    <a:gridCol w="2171348">
                      <a:extLst>
                        <a:ext uri="{9D8B030D-6E8A-4147-A177-3AD203B41FA5}">
                          <a16:colId xmlns:a16="http://schemas.microsoft.com/office/drawing/2014/main" val="3938063570"/>
                        </a:ext>
                      </a:extLst>
                    </a:gridCol>
                    <a:gridCol w="2171348">
                      <a:extLst>
                        <a:ext uri="{9D8B030D-6E8A-4147-A177-3AD203B41FA5}">
                          <a16:colId xmlns:a16="http://schemas.microsoft.com/office/drawing/2014/main" val="1903592368"/>
                        </a:ext>
                      </a:extLst>
                    </a:gridCol>
                    <a:gridCol w="2024162">
                      <a:extLst>
                        <a:ext uri="{9D8B030D-6E8A-4147-A177-3AD203B41FA5}">
                          <a16:colId xmlns:a16="http://schemas.microsoft.com/office/drawing/2014/main" val="340109716"/>
                        </a:ext>
                      </a:extLst>
                    </a:gridCol>
                  </a:tblGrid>
                  <a:tr h="118915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Equipements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Quantité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Puissance</a:t>
                          </a:r>
                          <a:b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unitaire Pu (W) </a:t>
                          </a:r>
                          <a:b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Puissances des récepteurs Pt (W)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Temps de fonctionnement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 (h)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Energie</a:t>
                          </a:r>
                          <a:b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consommée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fr-FR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𝐸𝑐</m:t>
                              </m:r>
                            </m:oMath>
                          </a14:m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(Wh/jour)</a:t>
                          </a:r>
                          <a:b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78238819"/>
                      </a:ext>
                    </a:extLst>
                  </a:tr>
                  <a:tr h="2671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Lampe (</a:t>
                          </a:r>
                          <a:r>
                            <a:rPr lang="fr-FR" sz="20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ext</a:t>
                          </a: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32378912"/>
                      </a:ext>
                    </a:extLst>
                  </a:tr>
                  <a:tr h="2671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Lampe (</a:t>
                          </a:r>
                          <a:r>
                            <a:rPr lang="fr-FR" sz="20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</a:t>
                          </a: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2400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711123227"/>
                      </a:ext>
                    </a:extLst>
                  </a:tr>
                  <a:tr h="2671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Pétrin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8000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8000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96000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68363422"/>
                      </a:ext>
                    </a:extLst>
                  </a:tr>
                  <a:tr h="101858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Façonnage de boulangerie 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81291871"/>
                      </a:ext>
                    </a:extLst>
                  </a:tr>
                  <a:tr h="26712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Frigo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460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11040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18560182"/>
                      </a:ext>
                    </a:extLst>
                  </a:tr>
                  <a:tr h="267127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Puissance totale des récepteurs(W)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9160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_-_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_-_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86695385"/>
                      </a:ext>
                    </a:extLst>
                  </a:tr>
                  <a:tr h="267127">
                    <a:tc gridSpan="5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Consommation journalière totale (Wh/jour)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116 640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74141315"/>
                      </a:ext>
                    </a:extLst>
                  </a:tr>
                  <a:tr h="267127">
                    <a:tc gridSpan="5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Consommation journalière totale rectifiée (Wh/jour)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139 968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098681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7A153075-9AEA-72A4-273F-6E93053EE5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8494469"/>
                  </p:ext>
                </p:extLst>
              </p:nvPr>
            </p:nvGraphicFramePr>
            <p:xfrm>
              <a:off x="328613" y="1737364"/>
              <a:ext cx="11600052" cy="464204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98534">
                      <a:extLst>
                        <a:ext uri="{9D8B030D-6E8A-4147-A177-3AD203B41FA5}">
                          <a16:colId xmlns:a16="http://schemas.microsoft.com/office/drawing/2014/main" val="1776332430"/>
                        </a:ext>
                      </a:extLst>
                    </a:gridCol>
                    <a:gridCol w="1166566">
                      <a:extLst>
                        <a:ext uri="{9D8B030D-6E8A-4147-A177-3AD203B41FA5}">
                          <a16:colId xmlns:a16="http://schemas.microsoft.com/office/drawing/2014/main" val="4224723684"/>
                        </a:ext>
                      </a:extLst>
                    </a:gridCol>
                    <a:gridCol w="2268094">
                      <a:extLst>
                        <a:ext uri="{9D8B030D-6E8A-4147-A177-3AD203B41FA5}">
                          <a16:colId xmlns:a16="http://schemas.microsoft.com/office/drawing/2014/main" val="3607344863"/>
                        </a:ext>
                      </a:extLst>
                    </a:gridCol>
                    <a:gridCol w="2171348">
                      <a:extLst>
                        <a:ext uri="{9D8B030D-6E8A-4147-A177-3AD203B41FA5}">
                          <a16:colId xmlns:a16="http://schemas.microsoft.com/office/drawing/2014/main" val="3938063570"/>
                        </a:ext>
                      </a:extLst>
                    </a:gridCol>
                    <a:gridCol w="2171348">
                      <a:extLst>
                        <a:ext uri="{9D8B030D-6E8A-4147-A177-3AD203B41FA5}">
                          <a16:colId xmlns:a16="http://schemas.microsoft.com/office/drawing/2014/main" val="1903592368"/>
                        </a:ext>
                      </a:extLst>
                    </a:gridCol>
                    <a:gridCol w="2024162">
                      <a:extLst>
                        <a:ext uri="{9D8B030D-6E8A-4147-A177-3AD203B41FA5}">
                          <a16:colId xmlns:a16="http://schemas.microsoft.com/office/drawing/2014/main" val="340109716"/>
                        </a:ext>
                      </a:extLst>
                    </a:gridCol>
                  </a:tblGrid>
                  <a:tr h="135375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Equipements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Quantité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Puissance</a:t>
                          </a:r>
                          <a:b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unitaire Pu (W) </a:t>
                          </a:r>
                          <a:b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Puissances des récepteurs Pt (W)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Temps de fonctionnement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 (h)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473795" t="-5856" r="-1205" b="-2545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8238819"/>
                      </a:ext>
                    </a:extLst>
                  </a:tr>
                  <a:tr h="3041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Lampe (</a:t>
                          </a:r>
                          <a:r>
                            <a:rPr lang="fr-FR" sz="20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ext</a:t>
                          </a: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32378912"/>
                      </a:ext>
                    </a:extLst>
                  </a:tr>
                  <a:tr h="3041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Lampe (</a:t>
                          </a:r>
                          <a:r>
                            <a:rPr lang="fr-FR" sz="2000" kern="1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</a:t>
                          </a: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2400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711123227"/>
                      </a:ext>
                    </a:extLst>
                  </a:tr>
                  <a:tr h="3041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Pétrin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8000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8000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96000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68363422"/>
                      </a:ext>
                    </a:extLst>
                  </a:tr>
                  <a:tr h="115957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Façonnage de boulangerie 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81291871"/>
                      </a:ext>
                    </a:extLst>
                  </a:tr>
                  <a:tr h="30410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Frigo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460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11040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18560182"/>
                      </a:ext>
                    </a:extLst>
                  </a:tr>
                  <a:tr h="304102"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Puissance totale des récepteurs(W)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9160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_-_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_-_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386695385"/>
                      </a:ext>
                    </a:extLst>
                  </a:tr>
                  <a:tr h="304102">
                    <a:tc gridSpan="5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Consommation journalière totale (Wh/jour)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116 640</a:t>
                          </a:r>
                          <a:endParaRPr lang="fr-FR" sz="18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74141315"/>
                      </a:ext>
                    </a:extLst>
                  </a:tr>
                  <a:tr h="304102">
                    <a:tc gridSpan="5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Consommation journalière totale rectifiée (Wh/jour)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0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139 968</a:t>
                          </a:r>
                          <a:endParaRPr lang="fr-FR" sz="18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9098681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358864E-AD48-A380-D1E2-79FD236D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14746" y="6459785"/>
            <a:ext cx="1312025" cy="365125"/>
          </a:xfrm>
        </p:spPr>
        <p:txBody>
          <a:bodyPr/>
          <a:lstStyle/>
          <a:p>
            <a:r>
              <a:rPr lang="en-US" dirty="0"/>
              <a:t>20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333780C-8DE4-5308-F7C0-280E26E47A05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695" y="233741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90103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ED1F35-3883-87A9-35FE-B98661994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732" y="204134"/>
            <a:ext cx="10411906" cy="1450757"/>
          </a:xfrm>
        </p:spPr>
        <p:txBody>
          <a:bodyPr>
            <a:normAutofit/>
          </a:bodyPr>
          <a:lstStyle/>
          <a:p>
            <a: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Dimensionnement du système photovoltaïque</a:t>
            </a:r>
            <a:endParaRPr lang="fr-FR" sz="44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36ACD9-23AF-94E2-08F6-A8E5D8986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1737360"/>
            <a:ext cx="10058400" cy="4023360"/>
          </a:xfrm>
        </p:spPr>
        <p:txBody>
          <a:bodyPr>
            <a:norm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Procédure du dimensionnement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0D77BC-5F77-D0B1-D11F-CCF06300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rganigramme : Connecteur 4">
                <a:extLst>
                  <a:ext uri="{FF2B5EF4-FFF2-40B4-BE49-F238E27FC236}">
                    <a16:creationId xmlns:a16="http://schemas.microsoft.com/office/drawing/2014/main" id="{F91011AC-94A6-7A98-5506-61A41346251B}"/>
                  </a:ext>
                </a:extLst>
              </p:cNvPr>
              <p:cNvSpPr/>
              <p:nvPr/>
            </p:nvSpPr>
            <p:spPr>
              <a:xfrm>
                <a:off x="44532" y="4892861"/>
                <a:ext cx="3457686" cy="1896524"/>
              </a:xfrm>
              <a:prstGeom prst="flowChartConnector">
                <a:avLst/>
              </a:prstGeom>
              <a:solidFill>
                <a:srgbClr val="00B0F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Besoins Journaliers</a:t>
                </a:r>
                <a:r>
                  <a:rPr lang="fr-FR" sz="18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800" b="1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FR" sz="1800" b="1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𝑾𝒉</m:t>
                        </m:r>
                        <m:r>
                          <a:rPr lang="fr-FR" sz="1800" b="1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fr-FR" sz="1800" b="1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𝒋𝒐𝒖𝒓</m:t>
                        </m:r>
                      </m:e>
                    </m:d>
                  </m:oMath>
                </a14:m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𝑬𝒄</m:t>
                      </m:r>
                      <m:r>
                        <a:rPr lang="fr-FR" sz="1600" b="1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fr-FR" sz="16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fr-FR" sz="16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b>
                        <m:sup>
                          <m:r>
                            <a:rPr lang="fr-FR" sz="16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d>
                            <m:dPr>
                              <m:ctrlPr>
                                <a:rPr lang="fr-FR" sz="16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1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fr-FR" sz="1600" b="1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𝒖𝒌</m:t>
                                  </m:r>
                                </m:sub>
                              </m:sSub>
                              <m:r>
                                <a:rPr lang="fr-FR" sz="1600" b="1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fr-FR" sz="1600" b="1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1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fr-FR" sz="1600" b="1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fr-FR" sz="16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</m:t>
                      </m:r>
                    </m:oMath>
                  </m:oMathPara>
                </a14:m>
                <a:endParaRPr lang="fr-FR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endParaRPr lang="fr-FR" dirty="0"/>
              </a:p>
            </p:txBody>
          </p:sp>
        </mc:Choice>
        <mc:Fallback xmlns="">
          <p:sp>
            <p:nvSpPr>
              <p:cNvPr id="5" name="Organigramme : Connecteur 4">
                <a:extLst>
                  <a:ext uri="{FF2B5EF4-FFF2-40B4-BE49-F238E27FC236}">
                    <a16:creationId xmlns:a16="http://schemas.microsoft.com/office/drawing/2014/main" id="{F91011AC-94A6-7A98-5506-61A4134625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2" y="4892861"/>
                <a:ext cx="3457686" cy="1896524"/>
              </a:xfrm>
              <a:prstGeom prst="flowChartConnector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rganigramme : Connecteur 5">
                <a:extLst>
                  <a:ext uri="{FF2B5EF4-FFF2-40B4-BE49-F238E27FC236}">
                    <a16:creationId xmlns:a16="http://schemas.microsoft.com/office/drawing/2014/main" id="{0BD8C651-1344-C33A-A846-68CE4F754C6D}"/>
                  </a:ext>
                </a:extLst>
              </p:cNvPr>
              <p:cNvSpPr/>
              <p:nvPr/>
            </p:nvSpPr>
            <p:spPr>
              <a:xfrm>
                <a:off x="1905832" y="2089256"/>
                <a:ext cx="3180403" cy="2886075"/>
              </a:xfrm>
              <a:prstGeom prst="flowChartConnector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/>
                  <a:t>Calcul de la puissance  Crête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𝑷𝑪𝑻</m:t>
                      </m:r>
                      <m:r>
                        <a:rPr lang="fr-FR" sz="1800" b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sz="1800" b="1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𝑬𝒄𝒓</m:t>
                          </m:r>
                        </m:num>
                        <m:den>
                          <m:r>
                            <a:rPr lang="fr-FR" sz="1800" b="1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𝑰𝑹</m:t>
                          </m:r>
                          <m:r>
                            <a:rPr lang="fr-FR" sz="1800" b="1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fr-FR" sz="1800" b="1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𝑲</m:t>
                          </m:r>
                        </m:den>
                      </m:f>
                    </m:oMath>
                  </m:oMathPara>
                </a14:m>
                <a:endParaRPr lang="fr-FR" b="1" dirty="0"/>
              </a:p>
              <a:p>
                <a:r>
                  <a:rPr lang="fr-FR" b="1" dirty="0"/>
                  <a:t>Nombre de panneaux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𝑵𝑴</m:t>
                      </m:r>
                      <m:r>
                        <a:rPr lang="fr-FR" sz="1800" b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sz="1800" b="1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𝑷𝑪𝑻</m:t>
                          </m:r>
                        </m:num>
                        <m:den>
                          <m:r>
                            <a:rPr lang="fr-FR" sz="1800" b="1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𝑷𝑪𝑼</m:t>
                          </m:r>
                          <m:r>
                            <a:rPr lang="fr-FR" sz="1800" b="1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fr-FR" sz="1800" b="1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𝒄𝒉𝒐𝒊𝒙</m:t>
                          </m:r>
                          <m:r>
                            <a:rPr lang="fr-FR" sz="1800" b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fr-FR" dirty="0"/>
              </a:p>
            </p:txBody>
          </p:sp>
        </mc:Choice>
        <mc:Fallback xmlns="">
          <p:sp>
            <p:nvSpPr>
              <p:cNvPr id="6" name="Organigramme : Connecteur 5">
                <a:extLst>
                  <a:ext uri="{FF2B5EF4-FFF2-40B4-BE49-F238E27FC236}">
                    <a16:creationId xmlns:a16="http://schemas.microsoft.com/office/drawing/2014/main" id="{0BD8C651-1344-C33A-A846-68CE4F754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832" y="2089256"/>
                <a:ext cx="3180403" cy="2886075"/>
              </a:xfrm>
              <a:prstGeom prst="flowChartConnector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rganigramme : Connecteur 6">
                <a:extLst>
                  <a:ext uri="{FF2B5EF4-FFF2-40B4-BE49-F238E27FC236}">
                    <a16:creationId xmlns:a16="http://schemas.microsoft.com/office/drawing/2014/main" id="{83A8BA7C-F550-1D44-81B4-5A17E7E967DE}"/>
                  </a:ext>
                </a:extLst>
              </p:cNvPr>
              <p:cNvSpPr/>
              <p:nvPr/>
            </p:nvSpPr>
            <p:spPr>
              <a:xfrm>
                <a:off x="5169569" y="1765935"/>
                <a:ext cx="3180403" cy="3057525"/>
              </a:xfrm>
              <a:prstGeom prst="flowChartConnector">
                <a:avLst/>
              </a:prstGeom>
              <a:solidFill>
                <a:srgbClr val="00B0F0"/>
              </a:solidFill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 de la capacité de stockage </a:t>
                </a:r>
                <a14:m>
                  <m:oMath xmlns:m="http://schemas.openxmlformats.org/officeDocument/2006/math">
                    <m:r>
                      <a:rPr lang="fr-FR" sz="18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fr-FR" sz="18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𝑨𝒉</m:t>
                    </m:r>
                  </m:oMath>
                </a14:m>
                <a:r>
                  <a:rPr lang="fr-F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𝑪</m:t>
                      </m:r>
                      <m:r>
                        <a:rPr lang="fr-FR" sz="1800" b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𝑬𝒄𝒓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num>
                        <m:den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𝑽𝒃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∗ɳ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𝒃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∗ɳ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𝒅𝒅</m:t>
                          </m:r>
                        </m:den>
                      </m:f>
                    </m:oMath>
                  </m:oMathPara>
                </a14:m>
                <a:endParaRPr lang="fr-FR" sz="1800" b="1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fr-FR" b="1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Nombre de batterie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𝑵𝑻𝑩</m:t>
                      </m:r>
                      <m:r>
                        <a:rPr lang="fr-FR" sz="1800" b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fr-F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𝑵𝑩𝑷</m:t>
                      </m:r>
                      <m:r>
                        <a:rPr lang="fr-F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fr-FR" sz="18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𝑵𝑩𝑺</m:t>
                      </m:r>
                    </m:oMath>
                  </m:oMathPara>
                </a14:m>
                <a:endParaRPr lang="fr-FR" sz="1800" b="1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endParaRPr lang="fr-FR" dirty="0"/>
              </a:p>
            </p:txBody>
          </p:sp>
        </mc:Choice>
        <mc:Fallback xmlns="">
          <p:sp>
            <p:nvSpPr>
              <p:cNvPr id="7" name="Organigramme : Connecteur 6">
                <a:extLst>
                  <a:ext uri="{FF2B5EF4-FFF2-40B4-BE49-F238E27FC236}">
                    <a16:creationId xmlns:a16="http://schemas.microsoft.com/office/drawing/2014/main" id="{83A8BA7C-F550-1D44-81B4-5A17E7E967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9569" y="1765935"/>
                <a:ext cx="3180403" cy="3057525"/>
              </a:xfrm>
              <a:prstGeom prst="flowChartConnector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rganigramme : Connecteur 7">
                <a:extLst>
                  <a:ext uri="{FF2B5EF4-FFF2-40B4-BE49-F238E27FC236}">
                    <a16:creationId xmlns:a16="http://schemas.microsoft.com/office/drawing/2014/main" id="{684ED1B6-0B34-F399-0F9A-1DE973B369B9}"/>
                  </a:ext>
                </a:extLst>
              </p:cNvPr>
              <p:cNvSpPr/>
              <p:nvPr/>
            </p:nvSpPr>
            <p:spPr>
              <a:xfrm>
                <a:off x="8802452" y="1604975"/>
                <a:ext cx="3358751" cy="3799833"/>
              </a:xfrm>
              <a:prstGeom prst="flowChartConnector">
                <a:avLst/>
              </a:prstGeom>
              <a:solidFill>
                <a:srgbClr val="00B0F0"/>
              </a:solidFill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fr-FR" b="1" dirty="0"/>
              </a:p>
              <a:p>
                <a:pPr algn="just"/>
                <a:endParaRPr lang="fr-FR" b="1" dirty="0"/>
              </a:p>
              <a:p>
                <a:pPr algn="just"/>
                <a:endParaRPr lang="fr-FR" b="1" dirty="0"/>
              </a:p>
              <a:p>
                <a:pPr algn="just"/>
                <a:r>
                  <a:rPr lang="fr-F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Choix du régulateur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𝑰𝒎𝒓</m:t>
                      </m:r>
                      <m:r>
                        <a:rPr lang="fr-FR" sz="1800" b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𝑷𝒈</m:t>
                          </m:r>
                        </m:num>
                        <m:den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𝑼𝒎𝒃</m:t>
                          </m:r>
                        </m:den>
                      </m:f>
                    </m:oMath>
                  </m:oMathPara>
                </a14:m>
                <a:endParaRPr lang="fr-FR" sz="1800" b="1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fr-F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 de la puissance du convertisseur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fr-FR" sz="1800" b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𝑾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𝒄𝒐𝒔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𝜱</m:t>
                          </m:r>
                        </m:den>
                      </m:f>
                    </m:oMath>
                  </m:oMathPara>
                </a14:m>
                <a:endParaRPr lang="fr-FR" sz="1800" b="1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fr-FR" b="1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Calcul de la section des câbles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𝑺</m:t>
                      </m:r>
                      <m:r>
                        <a:rPr lang="fr-FR" sz="1800" b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𝑹𝒉𝒐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𝑳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𝑰</m:t>
                          </m:r>
                        </m:num>
                        <m:den>
                          <m:r>
                            <a:rPr lang="fr-FR" sz="1800" b="1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𝑷𝑻</m:t>
                          </m:r>
                        </m:den>
                      </m:f>
                    </m:oMath>
                  </m:oMathPara>
                </a14:m>
                <a:endParaRPr lang="fr-FR" sz="1800" b="1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endParaRPr lang="fr-FR" sz="18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/>
                <a:endParaRPr lang="fr-FR" dirty="0"/>
              </a:p>
            </p:txBody>
          </p:sp>
        </mc:Choice>
        <mc:Fallback xmlns="">
          <p:sp>
            <p:nvSpPr>
              <p:cNvPr id="8" name="Organigramme : Connecteur 7">
                <a:extLst>
                  <a:ext uri="{FF2B5EF4-FFF2-40B4-BE49-F238E27FC236}">
                    <a16:creationId xmlns:a16="http://schemas.microsoft.com/office/drawing/2014/main" id="{684ED1B6-0B34-F399-0F9A-1DE973B36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2452" y="1604975"/>
                <a:ext cx="3358751" cy="3799833"/>
              </a:xfrm>
              <a:prstGeom prst="flowChartConnector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45474EBF-FB1A-450B-B62D-E61C7FA0FDA6}"/>
              </a:ext>
            </a:extLst>
          </p:cNvPr>
          <p:cNvSpPr/>
          <p:nvPr/>
        </p:nvSpPr>
        <p:spPr>
          <a:xfrm>
            <a:off x="3879599" y="5501565"/>
            <a:ext cx="6343650" cy="10176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Protections des appareils: Fusibles, Disjoncteurs et parafoudr</a:t>
            </a:r>
            <a:r>
              <a:rPr lang="fr-FR" b="1" dirty="0"/>
              <a:t>e</a:t>
            </a:r>
          </a:p>
        </p:txBody>
      </p:sp>
      <p:cxnSp>
        <p:nvCxnSpPr>
          <p:cNvPr id="11" name="Connecteur : en arc 10">
            <a:extLst>
              <a:ext uri="{FF2B5EF4-FFF2-40B4-BE49-F238E27FC236}">
                <a16:creationId xmlns:a16="http://schemas.microsoft.com/office/drawing/2014/main" id="{68B03EB7-634E-6743-CAFB-522C49824EC8}"/>
              </a:ext>
            </a:extLst>
          </p:cNvPr>
          <p:cNvCxnSpPr>
            <a:cxnSpLocks/>
            <a:endCxn id="6" idx="2"/>
          </p:cNvCxnSpPr>
          <p:nvPr/>
        </p:nvCxnSpPr>
        <p:spPr>
          <a:xfrm rot="5400000" flipH="1" flipV="1">
            <a:off x="1024784" y="4011814"/>
            <a:ext cx="1360568" cy="401528"/>
          </a:xfrm>
          <a:prstGeom prst="curved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07581110-7E27-41EF-AEB2-205B645397F7}"/>
              </a:ext>
            </a:extLst>
          </p:cNvPr>
          <p:cNvCxnSpPr>
            <a:cxnSpLocks/>
            <a:stCxn id="6" idx="4"/>
            <a:endCxn id="7" idx="4"/>
          </p:cNvCxnSpPr>
          <p:nvPr/>
        </p:nvCxnSpPr>
        <p:spPr>
          <a:xfrm rot="5400000" flipH="1" flipV="1">
            <a:off x="5051966" y="3267527"/>
            <a:ext cx="151871" cy="3263737"/>
          </a:xfrm>
          <a:prstGeom prst="bentConnector3">
            <a:avLst>
              <a:gd name="adj1" fmla="val -15052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13B5E5A1-6D27-C33D-D1E8-D45525FB81D1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8349972" y="3294698"/>
            <a:ext cx="452480" cy="21019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èche : courbe vers la gauche 19">
            <a:extLst>
              <a:ext uri="{FF2B5EF4-FFF2-40B4-BE49-F238E27FC236}">
                <a16:creationId xmlns:a16="http://schemas.microsoft.com/office/drawing/2014/main" id="{BE17EE33-E906-B0F5-38FB-275DA5BBA7BB}"/>
              </a:ext>
            </a:extLst>
          </p:cNvPr>
          <p:cNvSpPr/>
          <p:nvPr/>
        </p:nvSpPr>
        <p:spPr>
          <a:xfrm rot="1817275">
            <a:off x="10384584" y="5417817"/>
            <a:ext cx="668891" cy="1057045"/>
          </a:xfrm>
          <a:prstGeom prst="curvedLeftArrow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1ABEC86-E473-18D3-643A-88ED378652D8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1828" y="56729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80047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4FC0D1-A742-7427-8ADF-BC40B7308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 obtenus</a:t>
            </a:r>
            <a:b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Dimensionnement 1/2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8AE1C71-691A-0176-837C-5AF1F435D4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5424747"/>
              </p:ext>
            </p:extLst>
          </p:nvPr>
        </p:nvGraphicFramePr>
        <p:xfrm>
          <a:off x="0" y="6306436"/>
          <a:ext cx="12192000" cy="529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D0A3D2F5-810F-1366-6A5F-EA8AC138C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214348"/>
              </p:ext>
            </p:extLst>
          </p:nvPr>
        </p:nvGraphicFramePr>
        <p:xfrm>
          <a:off x="787792" y="1737360"/>
          <a:ext cx="10818054" cy="45690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93746">
                  <a:extLst>
                    <a:ext uri="{9D8B030D-6E8A-4147-A177-3AD203B41FA5}">
                      <a16:colId xmlns:a16="http://schemas.microsoft.com/office/drawing/2014/main" val="4199814037"/>
                    </a:ext>
                  </a:extLst>
                </a:gridCol>
                <a:gridCol w="1623050">
                  <a:extLst>
                    <a:ext uri="{9D8B030D-6E8A-4147-A177-3AD203B41FA5}">
                      <a16:colId xmlns:a16="http://schemas.microsoft.com/office/drawing/2014/main" val="779238292"/>
                    </a:ext>
                  </a:extLst>
                </a:gridCol>
                <a:gridCol w="2675470">
                  <a:extLst>
                    <a:ext uri="{9D8B030D-6E8A-4147-A177-3AD203B41FA5}">
                      <a16:colId xmlns:a16="http://schemas.microsoft.com/office/drawing/2014/main" val="384133401"/>
                    </a:ext>
                  </a:extLst>
                </a:gridCol>
                <a:gridCol w="1825788">
                  <a:extLst>
                    <a:ext uri="{9D8B030D-6E8A-4147-A177-3AD203B41FA5}">
                      <a16:colId xmlns:a16="http://schemas.microsoft.com/office/drawing/2014/main" val="1730871736"/>
                    </a:ext>
                  </a:extLst>
                </a:gridCol>
              </a:tblGrid>
              <a:tr h="3807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Equipements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Quantité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Caractéristique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Marque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3049098"/>
                  </a:ext>
                </a:extLst>
              </a:tr>
              <a:tr h="3807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Panneau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550 Wc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Jinko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949560"/>
                  </a:ext>
                </a:extLst>
              </a:tr>
              <a:tr h="3807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Batterie Lithium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15kWh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BSLBATT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6775390"/>
                  </a:ext>
                </a:extLst>
              </a:tr>
              <a:tr h="3807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Régulateur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450V/200A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Victron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918174"/>
                  </a:ext>
                </a:extLst>
              </a:tr>
              <a:tr h="3807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Onduleur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5kVA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Victron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6971566"/>
                  </a:ext>
                </a:extLst>
              </a:tr>
              <a:tr h="3807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Porte fusible et fusible (panneau)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32A, 1000VDC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Suntree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2222534"/>
                  </a:ext>
                </a:extLst>
              </a:tr>
              <a:tr h="3807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Porte fusible et fusible (batterie)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160A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Suntree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7860632"/>
                  </a:ext>
                </a:extLst>
              </a:tr>
              <a:tr h="3807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Jeu de barre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1100A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Victron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7233625"/>
                  </a:ext>
                </a:extLst>
              </a:tr>
              <a:tr h="3807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Parafoudre DC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500V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Suntree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9822867"/>
                  </a:ext>
                </a:extLst>
              </a:tr>
              <a:tr h="3807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Parafoudre AC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500V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Suntree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1128266"/>
                  </a:ext>
                </a:extLst>
              </a:tr>
              <a:tr h="3807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Disjoncteur Moduleur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 A 2P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Suntree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5973795"/>
                  </a:ext>
                </a:extLst>
              </a:tr>
              <a:tr h="3807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Interrupteur différentiel 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2000" b="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 A 30 mA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Suntree</a:t>
                      </a:r>
                      <a:endParaRPr lang="fr-FR" sz="20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4716208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768D15C-9B9B-A3D7-DF66-A416B5468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25C3196-F202-F5FE-0E1A-83E8DBF669C0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735" y="170529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8926852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A835CE-F261-02AE-9881-00EBEBB4B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 obtenus</a:t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Dimensionnement 2/2</a:t>
            </a:r>
            <a:endParaRPr lang="fr-FR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9ACCABA4-49E0-9764-184D-ABEFE82422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577022"/>
              </p:ext>
            </p:extLst>
          </p:nvPr>
        </p:nvGraphicFramePr>
        <p:xfrm>
          <a:off x="0" y="6256307"/>
          <a:ext cx="12192000" cy="630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77E8DC7-538E-88A3-2EE4-3F939284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23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DB998FE-EC44-4C8E-5F5B-94E1E7FB07B7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695" y="120433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id="{B645F8A9-E04A-1FBA-99F7-4BE724BF80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3738911"/>
                  </p:ext>
                </p:extLst>
              </p:nvPr>
            </p:nvGraphicFramePr>
            <p:xfrm>
              <a:off x="600075" y="1770612"/>
              <a:ext cx="11015662" cy="448569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300889">
                      <a:extLst>
                        <a:ext uri="{9D8B030D-6E8A-4147-A177-3AD203B41FA5}">
                          <a16:colId xmlns:a16="http://schemas.microsoft.com/office/drawing/2014/main" val="1391226329"/>
                        </a:ext>
                      </a:extLst>
                    </a:gridCol>
                    <a:gridCol w="1321243">
                      <a:extLst>
                        <a:ext uri="{9D8B030D-6E8A-4147-A177-3AD203B41FA5}">
                          <a16:colId xmlns:a16="http://schemas.microsoft.com/office/drawing/2014/main" val="515091162"/>
                        </a:ext>
                      </a:extLst>
                    </a:gridCol>
                    <a:gridCol w="2224423">
                      <a:extLst>
                        <a:ext uri="{9D8B030D-6E8A-4147-A177-3AD203B41FA5}">
                          <a16:colId xmlns:a16="http://schemas.microsoft.com/office/drawing/2014/main" val="2056129363"/>
                        </a:ext>
                      </a:extLst>
                    </a:gridCol>
                    <a:gridCol w="2169107">
                      <a:extLst>
                        <a:ext uri="{9D8B030D-6E8A-4147-A177-3AD203B41FA5}">
                          <a16:colId xmlns:a16="http://schemas.microsoft.com/office/drawing/2014/main" val="3660384055"/>
                        </a:ext>
                      </a:extLst>
                    </a:gridCol>
                  </a:tblGrid>
                  <a:tr h="105445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Désignation</a:t>
                          </a:r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Distance (m)</a:t>
                          </a:r>
                          <a:endParaRPr lang="fr-FR" sz="2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Section calculée (mm</a:t>
                          </a:r>
                          <a:r>
                            <a:rPr lang="fr-FR" sz="2400" kern="100" baseline="30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fr-FR" sz="2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fr-FR" sz="2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Section prise (mm</a:t>
                          </a:r>
                          <a:r>
                            <a:rPr lang="fr-FR" sz="2400" kern="100" baseline="30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fr-FR" sz="2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fr-FR" sz="2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24825465"/>
                      </a:ext>
                    </a:extLst>
                  </a:tr>
                  <a:tr h="6862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tabLst>
                              <a:tab pos="1527175" algn="l"/>
                            </a:tabLst>
                          </a:pPr>
                          <a:r>
                            <a:rPr lang="fr-FR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Entre les Panneaux et le régulateur</a:t>
                          </a:r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fr-FR" sz="2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1,63</m:t>
                                </m:r>
                              </m:oMath>
                            </m:oMathPara>
                          </a14:m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b="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1*2,5</a:t>
                          </a:r>
                          <a:endParaRPr lang="fr-FR" sz="2400" b="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90709868"/>
                      </a:ext>
                    </a:extLst>
                  </a:tr>
                  <a:tr h="6862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Entre le Régulateur et le bus DC </a:t>
                          </a:r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42,5</m:t>
                                </m:r>
                              </m:oMath>
                            </m:oMathPara>
                          </a14:m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b="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1* 50</a:t>
                          </a:r>
                          <a:endParaRPr lang="fr-FR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53922601"/>
                      </a:ext>
                    </a:extLst>
                  </a:tr>
                  <a:tr h="6862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Entre le bus DC et les Batteries </a:t>
                          </a:r>
                          <a:endParaRPr lang="fr-FR" sz="2400" kern="100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113,33</m:t>
                                </m:r>
                              </m:oMath>
                            </m:oMathPara>
                          </a14:m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b="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1*120</a:t>
                          </a:r>
                          <a:endParaRPr lang="fr-FR" sz="2400" b="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86560723"/>
                      </a:ext>
                    </a:extLst>
                  </a:tr>
                  <a:tr h="6862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Entre le bus DC et le convertisseur</a:t>
                          </a:r>
                          <a:endParaRPr lang="fr-FR" sz="2400" kern="100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22,14</a:t>
                          </a:r>
                          <a:endParaRPr lang="fr-FR" sz="2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b="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1*25</a:t>
                          </a:r>
                          <a:r>
                            <a:rPr lang="fr-FR" sz="2400" b="0" i="1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fr-FR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41678900"/>
                      </a:ext>
                    </a:extLst>
                  </a:tr>
                  <a:tr h="6862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Entre le convertisseur et le coffret AC</a:t>
                          </a:r>
                          <a:endParaRPr lang="fr-FR" sz="2400" kern="100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fr-FR" sz="2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4,73</m:t>
                                </m:r>
                              </m:oMath>
                            </m:oMathPara>
                          </a14:m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b="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4*6</a:t>
                          </a:r>
                          <a:endParaRPr lang="fr-FR" sz="2400" b="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74835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id="{B645F8A9-E04A-1FBA-99F7-4BE724BF80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3738911"/>
                  </p:ext>
                </p:extLst>
              </p:nvPr>
            </p:nvGraphicFramePr>
            <p:xfrm>
              <a:off x="600075" y="1770612"/>
              <a:ext cx="11015662" cy="448569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300889">
                      <a:extLst>
                        <a:ext uri="{9D8B030D-6E8A-4147-A177-3AD203B41FA5}">
                          <a16:colId xmlns:a16="http://schemas.microsoft.com/office/drawing/2014/main" val="1391226329"/>
                        </a:ext>
                      </a:extLst>
                    </a:gridCol>
                    <a:gridCol w="1321243">
                      <a:extLst>
                        <a:ext uri="{9D8B030D-6E8A-4147-A177-3AD203B41FA5}">
                          <a16:colId xmlns:a16="http://schemas.microsoft.com/office/drawing/2014/main" val="515091162"/>
                        </a:ext>
                      </a:extLst>
                    </a:gridCol>
                    <a:gridCol w="2224423">
                      <a:extLst>
                        <a:ext uri="{9D8B030D-6E8A-4147-A177-3AD203B41FA5}">
                          <a16:colId xmlns:a16="http://schemas.microsoft.com/office/drawing/2014/main" val="2056129363"/>
                        </a:ext>
                      </a:extLst>
                    </a:gridCol>
                    <a:gridCol w="2169107">
                      <a:extLst>
                        <a:ext uri="{9D8B030D-6E8A-4147-A177-3AD203B41FA5}">
                          <a16:colId xmlns:a16="http://schemas.microsoft.com/office/drawing/2014/main" val="3660384055"/>
                        </a:ext>
                      </a:extLst>
                    </a:gridCol>
                  </a:tblGrid>
                  <a:tr h="105445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Désignation</a:t>
                          </a:r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Distance (m)</a:t>
                          </a:r>
                          <a:endParaRPr lang="fr-FR" sz="2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Section calculée (mm</a:t>
                          </a:r>
                          <a:r>
                            <a:rPr lang="fr-FR" sz="2400" kern="100" baseline="30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fr-FR" sz="2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fr-FR" sz="2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Section prise (mm</a:t>
                          </a:r>
                          <a:r>
                            <a:rPr lang="fr-FR" sz="2400" kern="100" baseline="300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fr-FR" sz="2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fr-FR" sz="2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24825465"/>
                      </a:ext>
                    </a:extLst>
                  </a:tr>
                  <a:tr h="6862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  <a:tabLst>
                              <a:tab pos="1527175" algn="l"/>
                            </a:tabLst>
                          </a:pPr>
                          <a:r>
                            <a:rPr lang="fr-FR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Entre les Panneaux et le régulateur</a:t>
                          </a:r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fr-FR" sz="2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8"/>
                          <a:stretch>
                            <a:fillRect l="-298082" t="-153982" r="-98630" b="-4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b="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1*2,5</a:t>
                          </a:r>
                          <a:endParaRPr lang="fr-FR" sz="2400" b="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90709868"/>
                      </a:ext>
                    </a:extLst>
                  </a:tr>
                  <a:tr h="6862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Entre le Régulateur et le bus DC </a:t>
                          </a:r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8"/>
                          <a:stretch>
                            <a:fillRect l="-298082" t="-253982" r="-98630" b="-3008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b="0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1* 50</a:t>
                          </a:r>
                          <a:endParaRPr lang="fr-FR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53922601"/>
                      </a:ext>
                    </a:extLst>
                  </a:tr>
                  <a:tr h="6862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Entre le bus DC et les Batteries </a:t>
                          </a:r>
                          <a:endParaRPr lang="fr-FR" sz="2400" kern="100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8"/>
                          <a:stretch>
                            <a:fillRect l="-298082" t="-357143" r="-98630" b="-203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b="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1*120</a:t>
                          </a:r>
                          <a:endParaRPr lang="fr-FR" sz="2400" b="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86560723"/>
                      </a:ext>
                    </a:extLst>
                  </a:tr>
                  <a:tr h="6862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Entre le bus DC et le convertisseur</a:t>
                          </a:r>
                          <a:endParaRPr lang="fr-FR" sz="2400" kern="100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fr-FR" sz="240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22,14</a:t>
                          </a:r>
                          <a:endParaRPr lang="fr-FR" sz="2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b="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1*25</a:t>
                          </a:r>
                          <a:r>
                            <a:rPr lang="fr-FR" sz="2400" b="0" i="1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fr-FR" sz="2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41678900"/>
                      </a:ext>
                    </a:extLst>
                  </a:tr>
                  <a:tr h="6862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b="1" kern="100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Entre le convertisseur et le coffret AC</a:t>
                          </a:r>
                          <a:endParaRPr lang="fr-FR" sz="2400" kern="100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kern="10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fr-FR" sz="2400" kern="1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8"/>
                          <a:stretch>
                            <a:fillRect l="-298082" t="-553097" r="-98630" b="-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2400" b="0" kern="1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4*6</a:t>
                          </a:r>
                          <a:endParaRPr lang="fr-FR" sz="2400" b="0" kern="1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748351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224225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CCB41A-51B3-8EE0-401D-F5AC3900C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 obtenus</a:t>
            </a:r>
            <a:br>
              <a:rPr lang="fr-F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E6FB3D-C91C-86BD-E174-6537F1407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0818" y="962536"/>
            <a:ext cx="4431323" cy="433232"/>
          </a:xfrm>
        </p:spPr>
        <p:txBody>
          <a:bodyPr>
            <a:noAutofit/>
          </a:bodyPr>
          <a:lstStyle/>
          <a:p>
            <a:pPr algn="ctr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Fonctionnement du système</a:t>
            </a:r>
            <a:endParaRPr lang="fr-FR" sz="28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A95C5B-75E0-1B1E-350F-6A1CEB8D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24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5862C07-1E63-A5B3-C233-6B6FFF744CB5}"/>
              </a:ext>
            </a:extLst>
          </p:cNvPr>
          <p:cNvSpPr txBox="1"/>
          <p:nvPr/>
        </p:nvSpPr>
        <p:spPr>
          <a:xfrm>
            <a:off x="3800475" y="6443125"/>
            <a:ext cx="5729288" cy="461665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 : Schéma synoptique de l’installation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3B47CE5-47F8-5FC9-3420-52F3681800B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651" y="141455"/>
            <a:ext cx="1451165" cy="1152773"/>
          </a:xfrm>
          <a:prstGeom prst="rect">
            <a:avLst/>
          </a:prstGeom>
          <a:noFill/>
          <a:ln>
            <a:noFill/>
            <a:prstDash val="solid"/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2DACB21-3F96-7106-42BF-DC8916B3A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88" y="1395768"/>
            <a:ext cx="10801349" cy="504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7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4147F-F0E9-4084-0C2C-C97F07B7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 obtenus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EB3EFA-F8F6-0BAD-94B0-C3FC2EA7F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16521"/>
          </a:xfrm>
        </p:spPr>
        <p:txBody>
          <a:bodyPr/>
          <a:lstStyle/>
          <a:p>
            <a:r>
              <a:rPr lang="fr-FR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Cout estimatif du projet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Coût du système incluant l’acquisition et l’installation des équipements est estimé à Cinquante Six Millions Sept Cent Quatorze Mille Six Cent Francs CFA.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E0D0C2-5168-39F1-9076-C0AF3DAA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53448" y="6369269"/>
            <a:ext cx="1359035" cy="455641"/>
          </a:xfrm>
        </p:spPr>
        <p:txBody>
          <a:bodyPr/>
          <a:lstStyle/>
          <a:p>
            <a:r>
              <a:rPr lang="en-US" dirty="0"/>
              <a:t>25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A89AC60-323F-47FF-2170-BF1937EB37B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735" y="178229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11BC0A-F9D6-6EA9-5243-15DF3D64BCE8}"/>
              </a:ext>
            </a:extLst>
          </p:cNvPr>
          <p:cNvSpPr/>
          <p:nvPr/>
        </p:nvSpPr>
        <p:spPr>
          <a:xfrm>
            <a:off x="261478" y="2440862"/>
            <a:ext cx="2075411" cy="900546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Générateur solaire photovoltaïque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F790BE-E508-3B75-7E4F-79029844AB7C}"/>
              </a:ext>
            </a:extLst>
          </p:cNvPr>
          <p:cNvSpPr/>
          <p:nvPr/>
        </p:nvSpPr>
        <p:spPr>
          <a:xfrm>
            <a:off x="2668658" y="2440862"/>
            <a:ext cx="2075411" cy="900546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Régulation DC et conversion AC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269082-1251-7A87-EDB5-976F4642DDF9}"/>
              </a:ext>
            </a:extLst>
          </p:cNvPr>
          <p:cNvSpPr/>
          <p:nvPr/>
        </p:nvSpPr>
        <p:spPr>
          <a:xfrm>
            <a:off x="5088775" y="2440862"/>
            <a:ext cx="1669992" cy="900546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Stockage Batteries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E827C5-A197-B245-6935-9981957644F1}"/>
              </a:ext>
            </a:extLst>
          </p:cNvPr>
          <p:cNvSpPr/>
          <p:nvPr/>
        </p:nvSpPr>
        <p:spPr>
          <a:xfrm>
            <a:off x="7103474" y="2440862"/>
            <a:ext cx="2419868" cy="900546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Fileries, protections et Divers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B8837-1730-48C1-37E4-B7D238531060}"/>
              </a:ext>
            </a:extLst>
          </p:cNvPr>
          <p:cNvSpPr/>
          <p:nvPr/>
        </p:nvSpPr>
        <p:spPr>
          <a:xfrm>
            <a:off x="9792293" y="2440862"/>
            <a:ext cx="2075411" cy="900546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Prestations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7B54F1E-06F1-5890-8142-E2DE346651E2}"/>
              </a:ext>
            </a:extLst>
          </p:cNvPr>
          <p:cNvSpPr/>
          <p:nvPr/>
        </p:nvSpPr>
        <p:spPr>
          <a:xfrm>
            <a:off x="152400" y="3685309"/>
            <a:ext cx="2184489" cy="3596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Total 1 = 9 573 000 F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FD9E2AD9-4011-FE17-7AB1-F5D2F7ED4D3B}"/>
              </a:ext>
            </a:extLst>
          </p:cNvPr>
          <p:cNvSpPr/>
          <p:nvPr/>
        </p:nvSpPr>
        <p:spPr>
          <a:xfrm>
            <a:off x="2623407" y="3685309"/>
            <a:ext cx="2184488" cy="3596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Total 2 = 8 370 000 F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D4D20B2-04DA-1DD9-7E4E-885E7CD19F64}"/>
              </a:ext>
            </a:extLst>
          </p:cNvPr>
          <p:cNvSpPr/>
          <p:nvPr/>
        </p:nvSpPr>
        <p:spPr>
          <a:xfrm>
            <a:off x="4886066" y="3671453"/>
            <a:ext cx="2318298" cy="3596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Total 3 = 28  185 000 F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E3CD555-C1D1-D557-FBD1-6B3FDD41723C}"/>
              </a:ext>
            </a:extLst>
          </p:cNvPr>
          <p:cNvSpPr/>
          <p:nvPr/>
        </p:nvSpPr>
        <p:spPr>
          <a:xfrm>
            <a:off x="7375917" y="3657908"/>
            <a:ext cx="2075410" cy="3596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Total 4 = 967 500 F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F84A5E8-5BDE-64C2-B4D5-34B42103EB54}"/>
              </a:ext>
            </a:extLst>
          </p:cNvPr>
          <p:cNvSpPr/>
          <p:nvPr/>
        </p:nvSpPr>
        <p:spPr>
          <a:xfrm>
            <a:off x="9753541" y="3657908"/>
            <a:ext cx="2175317" cy="3596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Total 5 = 9 619 100 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83EF2D-5B6A-638E-C866-7AE0CA640934}"/>
              </a:ext>
            </a:extLst>
          </p:cNvPr>
          <p:cNvSpPr/>
          <p:nvPr/>
        </p:nvSpPr>
        <p:spPr>
          <a:xfrm>
            <a:off x="152400" y="4304335"/>
            <a:ext cx="11715304" cy="736446"/>
          </a:xfrm>
          <a:prstGeom prst="rect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1 + Total 2 + Total 3 + Total 4 +Total 5 = 56 714 600 F CFA  </a:t>
            </a:r>
          </a:p>
        </p:txBody>
      </p:sp>
      <p:sp>
        <p:nvSpPr>
          <p:cNvPr id="17" name="Triangle isocèle 16">
            <a:extLst>
              <a:ext uri="{FF2B5EF4-FFF2-40B4-BE49-F238E27FC236}">
                <a16:creationId xmlns:a16="http://schemas.microsoft.com/office/drawing/2014/main" id="{3E868DFD-78F2-8494-6607-EC0EF2466F6A}"/>
              </a:ext>
            </a:extLst>
          </p:cNvPr>
          <p:cNvSpPr/>
          <p:nvPr/>
        </p:nvSpPr>
        <p:spPr>
          <a:xfrm rot="10800000">
            <a:off x="1036320" y="3341408"/>
            <a:ext cx="224444" cy="34390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riangle isocèle 17">
            <a:extLst>
              <a:ext uri="{FF2B5EF4-FFF2-40B4-BE49-F238E27FC236}">
                <a16:creationId xmlns:a16="http://schemas.microsoft.com/office/drawing/2014/main" id="{74A9F1ED-9999-CCF1-56EB-D132A5879634}"/>
              </a:ext>
            </a:extLst>
          </p:cNvPr>
          <p:cNvSpPr/>
          <p:nvPr/>
        </p:nvSpPr>
        <p:spPr>
          <a:xfrm rot="10800000">
            <a:off x="3614065" y="3327552"/>
            <a:ext cx="224444" cy="34390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riangle isocèle 18">
            <a:extLst>
              <a:ext uri="{FF2B5EF4-FFF2-40B4-BE49-F238E27FC236}">
                <a16:creationId xmlns:a16="http://schemas.microsoft.com/office/drawing/2014/main" id="{AA2C8D4C-6E82-BE9B-C615-0922E3E7DE14}"/>
              </a:ext>
            </a:extLst>
          </p:cNvPr>
          <p:cNvSpPr/>
          <p:nvPr/>
        </p:nvSpPr>
        <p:spPr>
          <a:xfrm rot="10800000">
            <a:off x="5916748" y="3341408"/>
            <a:ext cx="224444" cy="34390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riangle isocèle 19">
            <a:extLst>
              <a:ext uri="{FF2B5EF4-FFF2-40B4-BE49-F238E27FC236}">
                <a16:creationId xmlns:a16="http://schemas.microsoft.com/office/drawing/2014/main" id="{319F1882-B97F-E035-F3D2-44A3B4202272}"/>
              </a:ext>
            </a:extLst>
          </p:cNvPr>
          <p:cNvSpPr/>
          <p:nvPr/>
        </p:nvSpPr>
        <p:spPr>
          <a:xfrm rot="10800000">
            <a:off x="8278831" y="3341408"/>
            <a:ext cx="224444" cy="34390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riangle isocèle 20">
            <a:extLst>
              <a:ext uri="{FF2B5EF4-FFF2-40B4-BE49-F238E27FC236}">
                <a16:creationId xmlns:a16="http://schemas.microsoft.com/office/drawing/2014/main" id="{7FAA2FF6-8180-D027-6A3E-72E0FEB7FCEE}"/>
              </a:ext>
            </a:extLst>
          </p:cNvPr>
          <p:cNvSpPr/>
          <p:nvPr/>
        </p:nvSpPr>
        <p:spPr>
          <a:xfrm rot="10800000">
            <a:off x="10798233" y="3341408"/>
            <a:ext cx="224444" cy="34390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riangle isocèle 22">
            <a:extLst>
              <a:ext uri="{FF2B5EF4-FFF2-40B4-BE49-F238E27FC236}">
                <a16:creationId xmlns:a16="http://schemas.microsoft.com/office/drawing/2014/main" id="{0D1A210B-A463-6697-8E4F-BCB40E947EC7}"/>
              </a:ext>
            </a:extLst>
          </p:cNvPr>
          <p:cNvSpPr/>
          <p:nvPr/>
        </p:nvSpPr>
        <p:spPr>
          <a:xfrm rot="10800000">
            <a:off x="1036320" y="4044909"/>
            <a:ext cx="173182" cy="27328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riangle isocèle 23">
            <a:extLst>
              <a:ext uri="{FF2B5EF4-FFF2-40B4-BE49-F238E27FC236}">
                <a16:creationId xmlns:a16="http://schemas.microsoft.com/office/drawing/2014/main" id="{070D7AE5-7BB1-2D33-2976-263BCED6737D}"/>
              </a:ext>
            </a:extLst>
          </p:cNvPr>
          <p:cNvSpPr/>
          <p:nvPr/>
        </p:nvSpPr>
        <p:spPr>
          <a:xfrm rot="10800000">
            <a:off x="3629060" y="4058455"/>
            <a:ext cx="173182" cy="27328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riangle isocèle 24">
            <a:extLst>
              <a:ext uri="{FF2B5EF4-FFF2-40B4-BE49-F238E27FC236}">
                <a16:creationId xmlns:a16="http://schemas.microsoft.com/office/drawing/2014/main" id="{D2321717-B2B8-E4EA-E94B-CA79FFBF7D34}"/>
              </a:ext>
            </a:extLst>
          </p:cNvPr>
          <p:cNvSpPr/>
          <p:nvPr/>
        </p:nvSpPr>
        <p:spPr>
          <a:xfrm rot="10800000">
            <a:off x="5926446" y="4017198"/>
            <a:ext cx="173182" cy="27328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riangle isocèle 25">
            <a:extLst>
              <a:ext uri="{FF2B5EF4-FFF2-40B4-BE49-F238E27FC236}">
                <a16:creationId xmlns:a16="http://schemas.microsoft.com/office/drawing/2014/main" id="{08DB8B18-5656-C352-A834-F69103D36400}"/>
              </a:ext>
            </a:extLst>
          </p:cNvPr>
          <p:cNvSpPr/>
          <p:nvPr/>
        </p:nvSpPr>
        <p:spPr>
          <a:xfrm rot="10800000">
            <a:off x="8313408" y="4031054"/>
            <a:ext cx="173182" cy="27328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riangle isocèle 26">
            <a:extLst>
              <a:ext uri="{FF2B5EF4-FFF2-40B4-BE49-F238E27FC236}">
                <a16:creationId xmlns:a16="http://schemas.microsoft.com/office/drawing/2014/main" id="{42B4CFE7-B4E2-FAC0-E41A-CBBFAA50B86F}"/>
              </a:ext>
            </a:extLst>
          </p:cNvPr>
          <p:cNvSpPr/>
          <p:nvPr/>
        </p:nvSpPr>
        <p:spPr>
          <a:xfrm rot="10800000">
            <a:off x="10831484" y="4003653"/>
            <a:ext cx="173182" cy="27328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68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AC0A13-CB4B-CEE5-2721-98038A24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du système 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3AF429-D8EB-2820-BBF6-09523128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19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B4BF37B0-28B2-6165-31B4-E05D7585E0C8}"/>
              </a:ext>
            </a:extLst>
          </p:cNvPr>
          <p:cNvGrpSpPr/>
          <p:nvPr/>
        </p:nvGrpSpPr>
        <p:grpSpPr>
          <a:xfrm>
            <a:off x="0" y="6024283"/>
            <a:ext cx="12192000" cy="954742"/>
            <a:chOff x="0" y="-171018"/>
            <a:chExt cx="12192000" cy="1593112"/>
          </a:xfrm>
        </p:grpSpPr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39E4479F-3AC6-CEBA-9BE6-F900AC9F8212}"/>
                </a:ext>
              </a:extLst>
            </p:cNvPr>
            <p:cNvSpPr/>
            <p:nvPr/>
          </p:nvSpPr>
          <p:spPr>
            <a:xfrm>
              <a:off x="0" y="30891"/>
              <a:ext cx="12192000" cy="103107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ectangle : coins arrondis 4">
              <a:extLst>
                <a:ext uri="{FF2B5EF4-FFF2-40B4-BE49-F238E27FC236}">
                  <a16:creationId xmlns:a16="http://schemas.microsoft.com/office/drawing/2014/main" id="{2B183D90-A35F-DC15-FEEE-F86D6B16291A}"/>
                </a:ext>
              </a:extLst>
            </p:cNvPr>
            <p:cNvSpPr txBox="1"/>
            <p:nvPr/>
          </p:nvSpPr>
          <p:spPr>
            <a:xfrm>
              <a:off x="50333" y="-171018"/>
              <a:ext cx="12091334" cy="15931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source données de consommation des équipements électriques et du système photovoltaïque de la boulangerie </a:t>
              </a:r>
            </a:p>
          </p:txBody>
        </p:sp>
      </p:grpSp>
      <p:sp>
        <p:nvSpPr>
          <p:cNvPr id="12" name="Espace réservé du numéro de diapositive 3">
            <a:extLst>
              <a:ext uri="{FF2B5EF4-FFF2-40B4-BE49-F238E27FC236}">
                <a16:creationId xmlns:a16="http://schemas.microsoft.com/office/drawing/2014/main" id="{A29EE7FE-4439-DB30-D95C-E0C22A6424AB}"/>
              </a:ext>
            </a:extLst>
          </p:cNvPr>
          <p:cNvSpPr txBox="1">
            <a:spLocks/>
          </p:cNvSpPr>
          <p:nvPr/>
        </p:nvSpPr>
        <p:spPr>
          <a:xfrm>
            <a:off x="10638222" y="6310861"/>
            <a:ext cx="1312025" cy="5265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26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CA2C7D3-3CF7-7E78-87FA-E3F5FB4FA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917" y="1752090"/>
            <a:ext cx="6324750" cy="381077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158AB53-A733-CEB9-303A-C90034AB9F2D}"/>
              </a:ext>
            </a:extLst>
          </p:cNvPr>
          <p:cNvSpPr txBox="1"/>
          <p:nvPr/>
        </p:nvSpPr>
        <p:spPr>
          <a:xfrm>
            <a:off x="6166617" y="5729411"/>
            <a:ext cx="5636420" cy="400110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lvl="0" algn="ctr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6 : Production normalisées (par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kWp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installé)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F271D15-9505-2567-C6D9-BAEA5E7691C7}"/>
              </a:ext>
            </a:extLst>
          </p:cNvPr>
          <p:cNvSpPr txBox="1"/>
          <p:nvPr/>
        </p:nvSpPr>
        <p:spPr>
          <a:xfrm>
            <a:off x="-164307" y="2148572"/>
            <a:ext cx="610076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Lu: Energie inutilisée (batterie pleine) = 0 kWh/kWc/jour</a:t>
            </a:r>
          </a:p>
          <a:p>
            <a:pPr marL="342900" lvl="0" indent="-342900" algn="ctr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Lc: Perte de collection (Champ PV)  =0,84 kWh/kWc/jour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Ls: Perte système et charge batterie : =0,22 kWh/kWc/jour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Yf: Energie fournie à l’utilisateur : =4,88 kWh/kWc/jour</a:t>
            </a:r>
          </a:p>
          <a:p>
            <a:pPr lvl="0" algn="ctr"/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EFA54E7-9114-428D-5371-832F3F72E5C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521" y="212425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4149002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39DF-3CF6-6CE4-92EA-51098548D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3DCFE4-75A1-8020-3918-518DA783B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 du système 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2CE0B6-80EB-4068-3AAC-B7B4ADEB0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19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5060379A-41AD-A71A-BFF8-BA1A5982E22C}"/>
              </a:ext>
            </a:extLst>
          </p:cNvPr>
          <p:cNvGrpSpPr/>
          <p:nvPr/>
        </p:nvGrpSpPr>
        <p:grpSpPr>
          <a:xfrm>
            <a:off x="0" y="5903259"/>
            <a:ext cx="12192000" cy="1129553"/>
            <a:chOff x="0" y="-252198"/>
            <a:chExt cx="12192000" cy="1364500"/>
          </a:xfrm>
        </p:grpSpPr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B1E86489-E363-8203-D76D-D5EEDF81D8A0}"/>
                </a:ext>
              </a:extLst>
            </p:cNvPr>
            <p:cNvSpPr/>
            <p:nvPr/>
          </p:nvSpPr>
          <p:spPr>
            <a:xfrm>
              <a:off x="0" y="30891"/>
              <a:ext cx="12192000" cy="103107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ectangle : coins arrondis 4">
              <a:extLst>
                <a:ext uri="{FF2B5EF4-FFF2-40B4-BE49-F238E27FC236}">
                  <a16:creationId xmlns:a16="http://schemas.microsoft.com/office/drawing/2014/main" id="{B42E7B99-3593-7BCE-2BE1-762D514CCC72}"/>
                </a:ext>
              </a:extLst>
            </p:cNvPr>
            <p:cNvSpPr txBox="1"/>
            <p:nvPr/>
          </p:nvSpPr>
          <p:spPr>
            <a:xfrm>
              <a:off x="0" y="-252198"/>
              <a:ext cx="12141667" cy="13645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fr-FR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Source: données de consommation des équipements électriques et du système photovoltaïque de la boulangerie </a:t>
              </a:r>
            </a:p>
          </p:txBody>
        </p:sp>
      </p:grpSp>
      <p:sp>
        <p:nvSpPr>
          <p:cNvPr id="12" name="Espace réservé du numéro de diapositive 3">
            <a:extLst>
              <a:ext uri="{FF2B5EF4-FFF2-40B4-BE49-F238E27FC236}">
                <a16:creationId xmlns:a16="http://schemas.microsoft.com/office/drawing/2014/main" id="{6F8BA1D3-F8C8-0E60-8955-B5D12309D9C5}"/>
              </a:ext>
            </a:extLst>
          </p:cNvPr>
          <p:cNvSpPr txBox="1">
            <a:spLocks/>
          </p:cNvSpPr>
          <p:nvPr/>
        </p:nvSpPr>
        <p:spPr>
          <a:xfrm>
            <a:off x="10638222" y="6310861"/>
            <a:ext cx="1312025" cy="5265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27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F0CC691-9EF0-31DC-1754-DA4CDBAB6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640" y="1758204"/>
            <a:ext cx="6421956" cy="397882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CB4EAB0-B66B-AE4D-F04E-50BDF41DC3BF}"/>
              </a:ext>
            </a:extLst>
          </p:cNvPr>
          <p:cNvSpPr txBox="1"/>
          <p:nvPr/>
        </p:nvSpPr>
        <p:spPr>
          <a:xfrm>
            <a:off x="7200823" y="5769952"/>
            <a:ext cx="6100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7 : Indice de performance (PR)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B0B5EA1-6A88-6631-B72A-DEE0931FABF8}"/>
              </a:ext>
            </a:extLst>
          </p:cNvPr>
          <p:cNvSpPr txBox="1"/>
          <p:nvPr/>
        </p:nvSpPr>
        <p:spPr>
          <a:xfrm>
            <a:off x="-295750" y="2912368"/>
            <a:ext cx="64222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 : Indice de performance installé  (Yf/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0,821</a:t>
            </a:r>
          </a:p>
          <a:p>
            <a:pPr lvl="0" algn="ctr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 : Fraction solaire (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Esol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Eload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algn="ctr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0,002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9AA1345-A5DB-1F98-E859-3AD7D27B656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278" y="160092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957410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3A7639-ED3A-2AF4-0966-6842FFB69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Avantages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3B2281-0F76-F7C0-205B-4B59DF3C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28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EE84D1E-7332-85E4-F4CA-AF29400F05BC}"/>
              </a:ext>
            </a:extLst>
          </p:cNvPr>
          <p:cNvSpPr/>
          <p:nvPr/>
        </p:nvSpPr>
        <p:spPr>
          <a:xfrm>
            <a:off x="1254443" y="1864521"/>
            <a:ext cx="4872037" cy="6143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sur l’économie locale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CBA4323-28F6-1D0C-2475-5623CA5A0FA0}"/>
              </a:ext>
            </a:extLst>
          </p:cNvPr>
          <p:cNvSpPr/>
          <p:nvPr/>
        </p:nvSpPr>
        <p:spPr>
          <a:xfrm>
            <a:off x="7158037" y="1871664"/>
            <a:ext cx="4503420" cy="6143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Impact environnemental</a:t>
            </a:r>
            <a:endParaRPr lang="fr-FR" sz="2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3D3D3-5CB8-C5A3-7D0C-05DABD34B98C}"/>
              </a:ext>
            </a:extLst>
          </p:cNvPr>
          <p:cNvSpPr/>
          <p:nvPr/>
        </p:nvSpPr>
        <p:spPr>
          <a:xfrm>
            <a:off x="1097280" y="2486026"/>
            <a:ext cx="5489258" cy="38947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fr-FR" sz="24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Reduction des couts énergétiques</a:t>
            </a:r>
            <a:endParaRPr lang="fr-FR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fr-FR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Production continue</a:t>
            </a:r>
            <a:endParaRPr lang="fr-FR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FR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fr-FR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Gains </a:t>
            </a:r>
            <a:r>
              <a:rPr lang="fr-FR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conomiques</a:t>
            </a:r>
            <a:endParaRPr lang="fr-FR" sz="2400" dirty="0"/>
          </a:p>
          <a:p>
            <a:pPr algn="ctr"/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fr-FR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586D9B8-4116-0B2E-D96D-5624DA535ABA}"/>
              </a:ext>
            </a:extLst>
          </p:cNvPr>
          <p:cNvSpPr/>
          <p:nvPr/>
        </p:nvSpPr>
        <p:spPr>
          <a:xfrm>
            <a:off x="7095171" y="2486026"/>
            <a:ext cx="4720592" cy="34089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Energie propre</a:t>
            </a:r>
          </a:p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Moins de pollution</a:t>
            </a:r>
          </a:p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Réduits des émissions             de </a:t>
            </a:r>
            <a:r>
              <a:rPr lang="fr-FR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CO₂</a:t>
            </a:r>
            <a:r>
              <a:rPr lang="fr-FR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E46F910-410A-6DC1-B876-DE8295719B0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735" y="254087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27552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56A303-2D5C-9BC3-8BBC-F51CF0A9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A7F4C4-C16E-3421-8C09-1819588D7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788" y="1737360"/>
            <a:ext cx="11301411" cy="4606290"/>
          </a:xfrm>
        </p:spPr>
        <p:txBody>
          <a:bodyPr>
            <a:norm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thème s’est inscrite dans une démarche de valorisation des énergies renouvelables, en particulier l'énergie solaire comme solution durable face aux difficultés d’accès</a:t>
            </a:r>
            <a:r>
              <a:rPr lang="fr-FR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l'électricité en milieu rural.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Dimensionnement retenu : 72 panneaux solaires, 12 batteries lithiums, 4 régulateurs de charge, 3 convertisseurs et des dispositifs de protections adapt</a:t>
            </a:r>
            <a:r>
              <a:rPr lang="fr-FR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Garantie d’une alimentation électrique fiable, sécurisé et continue.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Amélioration de l’efficacit</a:t>
            </a:r>
            <a:r>
              <a:rPr lang="fr-FR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 énergétique grâce à une gestion optimisée des charges.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Retombées attendues :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réduction des couts énergétiques, diminution de la dépendance a l’EDM-SA, soutien au développement économique local et réduction des émissions de CO</a:t>
            </a:r>
            <a:r>
              <a:rPr lang="fr-FR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AFC32E-60CE-CFF9-F49C-9AE6F3A5B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29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BA56ABD-9A2F-6E0A-C059-FA4769274A1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1230" y="104254"/>
            <a:ext cx="1545969" cy="1299706"/>
          </a:xfrm>
          <a:prstGeom prst="rect">
            <a:avLst/>
          </a:prstGeom>
          <a:noFill/>
          <a:ln>
            <a:noFill/>
            <a:prstDash val="solid"/>
          </a:ln>
        </p:spPr>
      </p:pic>
    </p:spTree>
    <p:extLst>
      <p:ext uri="{BB962C8B-B14F-4D97-AF65-F5344CB8AC3E}">
        <p14:creationId xmlns:p14="http://schemas.microsoft.com/office/powerpoint/2010/main" val="2890064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D372743-BB28-7A4F-48A5-FB44346A6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vous remercie pour votre aimable attention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E16984E-1A1A-5948-C1A8-2EF2BAAD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4996366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212802-E328-9CD6-6A26-674EA1D9E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1037A9B9-A1DF-288D-7E2D-E9A8A6AE26E6}"/>
                  </a:ext>
                </a:extLst>
              </p:cNvPr>
              <p:cNvSpPr txBox="1"/>
              <p:nvPr/>
            </p:nvSpPr>
            <p:spPr>
              <a:xfrm>
                <a:off x="2346723" y="1035025"/>
                <a:ext cx="6093618" cy="587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fr-FR" sz="1800" i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𝐸𝑐</m:t>
                    </m:r>
                    <m:r>
                      <a:rPr lang="fr-FR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:</m:t>
                    </m:r>
                  </m:oMath>
                </a14:m>
                <a:r>
                  <a:rPr lang="fr-FR" sz="24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Energie consommée totale en Wh/jour ;</a:t>
                </a:r>
                <a:endParaRPr lang="fr-FR" sz="1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1037A9B9-A1DF-288D-7E2D-E9A8A6AE2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723" y="1035025"/>
                <a:ext cx="6093618" cy="587148"/>
              </a:xfrm>
              <a:prstGeom prst="rect">
                <a:avLst/>
              </a:prstGeom>
              <a:blipFill>
                <a:blip r:embed="rId2"/>
                <a:stretch>
                  <a:fillRect b="-229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5FF76977-8A99-E7AD-4B03-04B6C038FADD}"/>
                  </a:ext>
                </a:extLst>
              </p:cNvPr>
              <p:cNvSpPr txBox="1"/>
              <p:nvPr/>
            </p:nvSpPr>
            <p:spPr>
              <a:xfrm>
                <a:off x="2346723" y="1785351"/>
                <a:ext cx="6093618" cy="587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24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𝑃𝐶𝑇</m:t>
                    </m:r>
                    <m:r>
                      <a:rPr lang="fr-FR" sz="24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fr-FR" sz="24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fr-FR" sz="24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Puissance crête totale en watt crête (</a:t>
                </a:r>
                <a14:m>
                  <m:oMath xmlns:m="http://schemas.openxmlformats.org/officeDocument/2006/math">
                    <m:r>
                      <a:rPr lang="fr-FR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𝑊𝑐</m:t>
                    </m:r>
                  </m:oMath>
                </a14:m>
                <a:r>
                  <a:rPr lang="fr-FR" sz="24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fr-FR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5FF76977-8A99-E7AD-4B03-04B6C038F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723" y="1785351"/>
                <a:ext cx="6093618" cy="587148"/>
              </a:xfrm>
              <a:prstGeom prst="rect">
                <a:avLst/>
              </a:prstGeom>
              <a:blipFill>
                <a:blip r:embed="rId3"/>
                <a:stretch>
                  <a:fillRect l="-300" b="-229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0D85C1A-F281-7B9A-7A23-502E219B1B10}"/>
                  </a:ext>
                </a:extLst>
              </p:cNvPr>
              <p:cNvSpPr txBox="1"/>
              <p:nvPr/>
            </p:nvSpPr>
            <p:spPr>
              <a:xfrm>
                <a:off x="2075261" y="2482575"/>
                <a:ext cx="6093618" cy="587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24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𝑁𝑀</m:t>
                    </m:r>
                    <m:r>
                      <a:rPr lang="fr-FR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:</m:t>
                    </m:r>
                  </m:oMath>
                </a14:m>
                <a:r>
                  <a:rPr lang="fr-FR" sz="24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correspond au Nombre de Module </a:t>
                </a:r>
                <a:endParaRPr lang="fr-FR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A0D85C1A-F281-7B9A-7A23-502E219B1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261" y="2482575"/>
                <a:ext cx="6093618" cy="587148"/>
              </a:xfrm>
              <a:prstGeom prst="rect">
                <a:avLst/>
              </a:prstGeom>
              <a:blipFill>
                <a:blip r:embed="rId4"/>
                <a:stretch>
                  <a:fillRect b="-2164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6B75ACA5-842D-6790-AFF6-B3F04A15F2A6}"/>
                  </a:ext>
                </a:extLst>
              </p:cNvPr>
              <p:cNvSpPr txBox="1"/>
              <p:nvPr/>
            </p:nvSpPr>
            <p:spPr>
              <a:xfrm>
                <a:off x="2257427" y="2963261"/>
                <a:ext cx="6093618" cy="742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24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fr-FR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:</m:t>
                    </m:r>
                  </m:oMath>
                </a14:m>
                <a:r>
                  <a:rPr lang="fr-FR" sz="24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Capacité de la </a:t>
                </a:r>
                <a:r>
                  <a:rPr lang="fr-FR" sz="3200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batterie</a:t>
                </a:r>
                <a:r>
                  <a:rPr lang="fr-FR" sz="24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fr-FR" sz="2000" kern="1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6B75ACA5-842D-6790-AFF6-B3F04A15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427" y="2963261"/>
                <a:ext cx="6093618" cy="742511"/>
              </a:xfrm>
              <a:prstGeom prst="rect">
                <a:avLst/>
              </a:prstGeom>
              <a:blipFill>
                <a:blip r:embed="rId5"/>
                <a:stretch>
                  <a:fillRect b="-254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ZoneTexte 13">
            <a:extLst>
              <a:ext uri="{FF2B5EF4-FFF2-40B4-BE49-F238E27FC236}">
                <a16:creationId xmlns:a16="http://schemas.microsoft.com/office/drawing/2014/main" id="{15A5B3C0-0926-DFF6-A6E2-D23F2123574E}"/>
              </a:ext>
            </a:extLst>
          </p:cNvPr>
          <p:cNvSpPr txBox="1"/>
          <p:nvPr/>
        </p:nvSpPr>
        <p:spPr>
          <a:xfrm>
            <a:off x="2346723" y="3647750"/>
            <a:ext cx="6093618" cy="587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800"/>
              </a:spcAft>
            </a:pPr>
            <a:r>
              <a:rPr lang="fr-FR" sz="24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NTB</a:t>
            </a:r>
            <a:r>
              <a:rPr lang="fr-FR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Nombre Total de la Batterie 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4F7208A2-5903-B156-28EA-854269266B85}"/>
                  </a:ext>
                </a:extLst>
              </p:cNvPr>
              <p:cNvSpPr txBox="1"/>
              <p:nvPr/>
            </p:nvSpPr>
            <p:spPr>
              <a:xfrm>
                <a:off x="2346723" y="4214857"/>
                <a:ext cx="6093618" cy="587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24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𝐼𝑚𝑟</m:t>
                    </m:r>
                    <m:r>
                      <a:rPr lang="fr-FR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fr-FR" sz="24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fr-FR" sz="24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Intensité maximale du Régulateur ;</a:t>
                </a:r>
                <a:endParaRPr lang="fr-FR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4F7208A2-5903-B156-28EA-854269266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723" y="4214857"/>
                <a:ext cx="6093618" cy="587148"/>
              </a:xfrm>
              <a:prstGeom prst="rect">
                <a:avLst/>
              </a:prstGeom>
              <a:blipFill>
                <a:blip r:embed="rId6"/>
                <a:stretch>
                  <a:fillRect l="-300" b="-2164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>
            <a:extLst>
              <a:ext uri="{FF2B5EF4-FFF2-40B4-BE49-F238E27FC236}">
                <a16:creationId xmlns:a16="http://schemas.microsoft.com/office/drawing/2014/main" id="{10486BE4-C7DA-858E-F59C-D05F76C2F19E}"/>
              </a:ext>
            </a:extLst>
          </p:cNvPr>
          <p:cNvSpPr txBox="1"/>
          <p:nvPr/>
        </p:nvSpPr>
        <p:spPr>
          <a:xfrm>
            <a:off x="2346723" y="4986825"/>
            <a:ext cx="6093618" cy="587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800"/>
              </a:spcAft>
            </a:pPr>
            <a:r>
              <a:rPr lang="fr-FR" sz="24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fr-FR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 Puissance de l’onduleur en VA</a:t>
            </a:r>
            <a:endParaRPr lang="fr-FR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A951686-56D3-CFA1-530F-15706C832697}"/>
              </a:ext>
            </a:extLst>
          </p:cNvPr>
          <p:cNvSpPr txBox="1"/>
          <p:nvPr/>
        </p:nvSpPr>
        <p:spPr>
          <a:xfrm>
            <a:off x="2346723" y="5564852"/>
            <a:ext cx="6093618" cy="587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fr-FR" sz="24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fr-FR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section du conducteur (mm</a:t>
            </a:r>
            <a:r>
              <a:rPr lang="fr-FR" sz="2400" kern="1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fr-FR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 </a:t>
            </a: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900805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Bleu 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5324</TotalTime>
  <Words>2246</Words>
  <Application>Microsoft Office PowerPoint</Application>
  <PresentationFormat>Grand écran</PresentationFormat>
  <Paragraphs>438</Paragraphs>
  <Slides>32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42" baseType="lpstr">
      <vt:lpstr>Arial</vt:lpstr>
      <vt:lpstr>Bahnschrift</vt:lpstr>
      <vt:lpstr>Bahnschrift SemiCondensed</vt:lpstr>
      <vt:lpstr>Calibri</vt:lpstr>
      <vt:lpstr>Calibri Light</vt:lpstr>
      <vt:lpstr>Cambria Math</vt:lpstr>
      <vt:lpstr>Symbol</vt:lpstr>
      <vt:lpstr>Times New Roman</vt:lpstr>
      <vt:lpstr>Wingdings</vt:lpstr>
      <vt:lpstr>Rétrospective</vt:lpstr>
      <vt:lpstr>Conception optimisée d’un système photovoltaïque autonome destiné  à l’électrification de la boulangerie YORO de Manantali </vt:lpstr>
      <vt:lpstr>SOMMAIRE</vt:lpstr>
      <vt:lpstr>Présentation PowerPoint</vt:lpstr>
      <vt:lpstr>Présentation de l’ école d’accueil</vt:lpstr>
      <vt:lpstr>Activités pédagogiques menées</vt:lpstr>
      <vt:lpstr>Difficultés rencontrées</vt:lpstr>
      <vt:lpstr>Solutions apportées</vt:lpstr>
      <vt:lpstr>Conclusion</vt:lpstr>
      <vt:lpstr>Recommandations</vt:lpstr>
      <vt:lpstr>Présentation PowerPoint</vt:lpstr>
      <vt:lpstr>Contexte et motivations </vt:lpstr>
      <vt:lpstr>Contexte et motivation</vt:lpstr>
      <vt:lpstr>Contexte et motivation </vt:lpstr>
      <vt:lpstr>Problématiques</vt:lpstr>
      <vt:lpstr>Objectifs du travail</vt:lpstr>
      <vt:lpstr>Présentation de la boulangerie YORO (Manantali)</vt:lpstr>
      <vt:lpstr>Méthodologie de l’étude</vt:lpstr>
      <vt:lpstr>Equipements de la boulangerie </vt:lpstr>
      <vt:lpstr>Répartition de la consommation par poste</vt:lpstr>
      <vt:lpstr>Profil de charge quotidien de la boulangerie </vt:lpstr>
      <vt:lpstr>Analyse Energétique  Besoins énergétiques</vt:lpstr>
      <vt:lpstr>Dimensionnement du système photovoltaïque</vt:lpstr>
      <vt:lpstr>Résultats obtenus  Dimensionnement 1/2</vt:lpstr>
      <vt:lpstr>Résultats obtenus  Dimensionnement 2/2</vt:lpstr>
      <vt:lpstr>Résultats obtenus </vt:lpstr>
      <vt:lpstr>Résultats obtenus</vt:lpstr>
      <vt:lpstr>Optimisation du système </vt:lpstr>
      <vt:lpstr>Optimisation du système </vt:lpstr>
      <vt:lpstr>Avantages</vt:lpstr>
      <vt:lpstr>Conclusion</vt:lpstr>
      <vt:lpstr>Je vous remercie pour votre aimable attention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Founémakan Dembélé</dc:creator>
  <cp:lastModifiedBy>Founémakan Dembélé</cp:lastModifiedBy>
  <cp:revision>55</cp:revision>
  <dcterms:created xsi:type="dcterms:W3CDTF">2026-03-19T20:23:37Z</dcterms:created>
  <dcterms:modified xsi:type="dcterms:W3CDTF">2026-08-06T22:32:21Z</dcterms:modified>
</cp:coreProperties>
</file>